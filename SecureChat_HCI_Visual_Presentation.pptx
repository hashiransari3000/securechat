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SecureChat interface screenshots (2026-09-03)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SecureChat interface screenshots (2026-09-03)</a:t>
            </a:r>
          </a:p>
          <a:p>
            <a:r>
              <a:t>- NIST Privacy Framework — https://www.nist.gov/privacy-framework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SecureChat interface screenshots (2026-09-03)</a:t>
            </a:r>
          </a:p>
          <a:p>
            <a:r>
              <a:t>- GDPR Article 5 — https://eur-lex.europa.eu/legal-content/EN/TXT/?uri=CELEX:32016R0679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SecureChat interface screenshots (2026-09-03)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SecureChat interface screenshots (2026-09-03)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SecureChat interface screenshots (2026-09-03)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SecureChat interface screenshots (2026-09-03)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SecureChat interface screenshots (2026-09-03)</a:t>
            </a:r>
          </a:p>
          <a:p>
            <a:r>
              <a:t>- Shneiderman’s Eight Golden Rules — https://www.cs.umd.edu/users/ben/goldenrules.html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SecureChat interface screenshots (2026-09-03)</a:t>
            </a:r>
          </a:p>
          <a:p>
            <a:r>
              <a:t>- WCAG 2.2 — https://www.w3.org/TR/WCAG22/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SecureChat interface screenshots (2026-09-03)</a:t>
            </a:r>
          </a:p>
          <a:p>
            <a:r>
              <a:t>- GDPR Article 5 — https://eur-lex.europa.eu/legal-content/EN/TXT/?uri=CELEX:32016R0679</a:t>
            </a:r>
          </a:p>
          <a:p>
            <a:r>
              <a:t>- NIST Privacy Framework — https://www.nist.gov/privacy-framework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SecureChat interface screenshots (2026-09-03)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SecureChat interface screenshots (2026-09-03)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EFDD1E25-A69C-4687-8F1D-78BA9137705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0B8C7"/>
          </a:solidFill>
          <a:ln w="0">
            <a:noFill/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77E66CE-DD80-496E-B05A-0D7E23937681}"/>
              </a:ext>
            </a:extLst>
          </p:cNvPr>
          <p:cNvSpPr>
            <a:spLocks noGrp="1"/>
          </p:cNvSpPr>
          <p:nvPr/>
        </p:nvSpPr>
        <p:spPr>
          <a:xfrm>
            <a:off x="8953500" y="190500"/>
            <a:ext cx="2857500" cy="2857500"/>
          </a:xfrm>
          <a:prstGeom prst="ellipse">
            <a:avLst/>
          </a:prstGeom>
          <a:solidFill>
            <a:srgbClr val="0B3761"/>
          </a:solidFill>
          <a:ln w="0">
            <a:noFill/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0CA936E-D896-42A7-ADF7-3C36C8C6A356}"/>
              </a:ext>
            </a:extLst>
          </p:cNvPr>
          <p:cNvSpPr>
            <a:spLocks noGrp="1"/>
          </p:cNvSpPr>
          <p:nvPr/>
        </p:nvSpPr>
        <p:spPr>
          <a:xfrm>
            <a:off x="10334625" y="190500"/>
            <a:ext cx="1428750" cy="1428750"/>
          </a:xfrm>
          <a:prstGeom prst="ellipse">
            <a:avLst/>
          </a:prstGeom>
          <a:solidFill>
            <a:srgbClr val="1769E0"/>
          </a:solidFill>
          <a:ln w="0">
            <a:noFill/>
            <a:prstDash val="solid"/>
          </a:ln>
        </p:spPr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56097" y="590550"/>
            <a:ext cx="1440656" cy="1047750"/>
          </a:xfrm>
          <a:prstGeom prst="roundRect">
            <a:avLst>
              <a:gd name="adj" fmla="val 16364"/>
            </a:avLst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168CB90-F92E-485A-B626-8DFAAF467CC3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61912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PRIVACY SHOULD</a:t>
            </a:r>
          </a:p>
          <a:p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FEEL USABLE.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FC6DCB-0A9D-4244-95E8-69060A9D754D}"/>
              </a:ext>
            </a:extLst>
          </p:cNvPr>
          <p:cNvSpPr>
            <a:spLocks noGrp="1"/>
          </p:cNvSpPr>
          <p:nvPr/>
        </p:nvSpPr>
        <p:spPr>
          <a:xfrm>
            <a:off x="723900" y="371475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20B8C7"/>
                </a:solidFill>
              </a:defRPr>
            </a:pPr>
            <a:r>
              <a:rPr sz="1950" b="1">
                <a:solidFill>
                  <a:srgbClr val="20B8C7"/>
                </a:solidFill>
              </a:rPr>
              <a:t>SecureChat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C8E35C-F2A3-4309-A1E6-8D9D22862680}"/>
              </a:ext>
            </a:extLst>
          </p:cNvPr>
          <p:cNvSpPr>
            <a:spLocks noGrp="1"/>
          </p:cNvSpPr>
          <p:nvPr/>
        </p:nvSpPr>
        <p:spPr>
          <a:xfrm>
            <a:off x="723900" y="4143375"/>
            <a:ext cx="590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0">
                <a:solidFill>
                  <a:srgbClr val="C7D7E8"/>
                </a:solidFill>
              </a:defRPr>
            </a:pPr>
            <a:r>
              <a:rPr sz="1800" b="0">
                <a:solidFill>
                  <a:srgbClr val="C7D7E8"/>
                </a:solidFill>
              </a:rPr>
              <a:t>Privacy &amp; Data Ethics in UX Design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B44B064-76F9-48EE-8F1E-4ED134DC59ED}"/>
              </a:ext>
            </a:extLst>
          </p:cNvPr>
          <p:cNvSpPr>
            <a:spLocks noGrp="1"/>
          </p:cNvSpPr>
          <p:nvPr/>
        </p:nvSpPr>
        <p:spPr>
          <a:xfrm>
            <a:off x="7239000" y="1905000"/>
            <a:ext cx="4191000" cy="3162300"/>
          </a:xfrm>
          <a:prstGeom prst="roundRect">
            <a:avLst>
              <a:gd name="adj" fmla="val 9036"/>
            </a:avLst>
          </a:prstGeom>
          <a:solidFill>
            <a:srgbClr val="102E4D"/>
          </a:solidFill>
          <a:ln w="9525">
            <a:solidFill>
              <a:srgbClr val="284F7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4"/>
          <a:srcRect l="7745" r="7745"/>
          <a:stretch>
            <a:fillRect/>
          </a:stretch>
        </p:blipFill>
        <p:spPr>
          <a:xfrm>
            <a:off x="7429500" y="2095500"/>
            <a:ext cx="3810000" cy="2143125"/>
          </a:xfrm>
          <a:prstGeom prst="roundRect">
            <a:avLst>
              <a:gd name="adj" fmla="val 8889"/>
            </a:avLst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0653713-2C25-4E19-87D5-67A0412832D4}"/>
              </a:ext>
            </a:extLst>
          </p:cNvPr>
          <p:cNvSpPr>
            <a:spLocks noGrp="1"/>
          </p:cNvSpPr>
          <p:nvPr/>
        </p:nvSpPr>
        <p:spPr>
          <a:xfrm>
            <a:off x="7620000" y="4476750"/>
            <a:ext cx="1066800" cy="381000"/>
          </a:xfrm>
          <a:prstGeom prst="roundRect">
            <a:avLst>
              <a:gd name="adj" fmla="val 50000"/>
            </a:avLst>
          </a:prstGeom>
          <a:solidFill>
            <a:srgbClr val="1769E0"/>
          </a:solidFill>
          <a:ln w="9525">
            <a:solidFill>
              <a:srgbClr val="D6E1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2BD923-9730-4F45-B16A-C7964DAEFE94}"/>
              </a:ext>
            </a:extLst>
          </p:cNvPr>
          <p:cNvSpPr>
            <a:spLocks noGrp="1"/>
          </p:cNvSpPr>
          <p:nvPr/>
        </p:nvSpPr>
        <p:spPr>
          <a:xfrm>
            <a:off x="7696200" y="4476750"/>
            <a:ext cx="914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Consent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614D134-483D-4D20-87F2-EF55799CE2BA}"/>
              </a:ext>
            </a:extLst>
          </p:cNvPr>
          <p:cNvSpPr>
            <a:spLocks noGrp="1"/>
          </p:cNvSpPr>
          <p:nvPr/>
        </p:nvSpPr>
        <p:spPr>
          <a:xfrm>
            <a:off x="8801100" y="4476750"/>
            <a:ext cx="10668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6E1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1A7416-A2FF-4E5B-8812-71FC4E9A3050}"/>
              </a:ext>
            </a:extLst>
          </p:cNvPr>
          <p:cNvSpPr>
            <a:spLocks noGrp="1"/>
          </p:cNvSpPr>
          <p:nvPr/>
        </p:nvSpPr>
        <p:spPr>
          <a:xfrm>
            <a:off x="8877300" y="4476750"/>
            <a:ext cx="914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10243E"/>
                </a:solidFill>
              </a:defRPr>
            </a:pPr>
            <a:r>
              <a:rPr sz="1200" b="1">
                <a:solidFill>
                  <a:srgbClr val="10243E"/>
                </a:solidFill>
              </a:rPr>
              <a:t>Control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4EABC8F-A842-48A8-9DA9-264EFD485353}"/>
              </a:ext>
            </a:extLst>
          </p:cNvPr>
          <p:cNvSpPr>
            <a:spLocks noGrp="1"/>
          </p:cNvSpPr>
          <p:nvPr/>
        </p:nvSpPr>
        <p:spPr>
          <a:xfrm>
            <a:off x="9982200" y="4476750"/>
            <a:ext cx="1066800" cy="381000"/>
          </a:xfrm>
          <a:prstGeom prst="roundRect">
            <a:avLst>
              <a:gd name="adj" fmla="val 50000"/>
            </a:avLst>
          </a:prstGeom>
          <a:solidFill>
            <a:srgbClr val="B9F5E4"/>
          </a:solidFill>
          <a:ln w="9525">
            <a:solidFill>
              <a:srgbClr val="D6E1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9FA478-C851-4512-A73A-1BAB432E56F3}"/>
              </a:ext>
            </a:extLst>
          </p:cNvPr>
          <p:cNvSpPr>
            <a:spLocks noGrp="1"/>
          </p:cNvSpPr>
          <p:nvPr/>
        </p:nvSpPr>
        <p:spPr>
          <a:xfrm>
            <a:off x="10058400" y="4476750"/>
            <a:ext cx="914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10243E"/>
                </a:solidFill>
              </a:defRPr>
            </a:pPr>
            <a:r>
              <a:rPr sz="1200" b="1">
                <a:solidFill>
                  <a:srgbClr val="10243E"/>
                </a:solidFill>
              </a:rPr>
              <a:t>Clarity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A375C1A-547E-4014-ADD9-8D0A513098CA}"/>
              </a:ext>
            </a:extLst>
          </p:cNvPr>
          <p:cNvSpPr>
            <a:spLocks noGrp="1"/>
          </p:cNvSpPr>
          <p:nvPr/>
        </p:nvSpPr>
        <p:spPr>
          <a:xfrm>
            <a:off x="723900" y="5734050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lang="en-US" sz="1350" b="1" dirty="0">
                <a:solidFill>
                  <a:srgbClr val="FFFFFF"/>
                </a:solidFill>
              </a:rPr>
              <a:t>Muhammad Ashhad . 68669</a:t>
            </a:r>
          </a:p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 dirty="0" err="1">
                <a:solidFill>
                  <a:srgbClr val="FFFFFF"/>
                </a:solidFill>
              </a:rPr>
              <a:t>Vishaka</a:t>
            </a:r>
            <a:r>
              <a:rPr sz="1350" b="1" dirty="0">
                <a:solidFill>
                  <a:srgbClr val="FFFFFF"/>
                </a:solidFill>
              </a:rPr>
              <a:t> </a:t>
            </a:r>
            <a:r>
              <a:rPr sz="1350" b="1" dirty="0" err="1">
                <a:solidFill>
                  <a:srgbClr val="FFFFFF"/>
                </a:solidFill>
              </a:rPr>
              <a:t>Bharwanu</a:t>
            </a:r>
            <a:r>
              <a:rPr sz="1350" b="1" dirty="0">
                <a:solidFill>
                  <a:srgbClr val="FFFFFF"/>
                </a:solidFill>
              </a:rPr>
              <a:t>  ·  69518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3134DD7-5DD8-429D-9414-E4103B479275}"/>
              </a:ext>
            </a:extLst>
          </p:cNvPr>
          <p:cNvSpPr>
            <a:spLocks noGrp="1"/>
          </p:cNvSpPr>
          <p:nvPr/>
        </p:nvSpPr>
        <p:spPr>
          <a:xfrm>
            <a:off x="723900" y="6048375"/>
            <a:ext cx="571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AFC3D8"/>
                </a:solidFill>
              </a:defRPr>
            </a:pPr>
            <a:r>
              <a:rPr sz="1200" b="0">
                <a:solidFill>
                  <a:srgbClr val="AFC3D8"/>
                </a:solidFill>
              </a:rPr>
              <a:t>Human–Computer Interaction &amp; Graphics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35BC908-DBA3-4719-B50E-BAB205B01D62}"/>
              </a:ext>
            </a:extLst>
          </p:cNvPr>
          <p:cNvSpPr>
            <a:spLocks noGrp="1"/>
          </p:cNvSpPr>
          <p:nvPr/>
        </p:nvSpPr>
        <p:spPr>
          <a:xfrm>
            <a:off x="7239000" y="582930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275" b="0">
                <a:solidFill>
                  <a:srgbClr val="C7D7E8"/>
                </a:solidFill>
              </a:defRPr>
            </a:pPr>
            <a:r>
              <a:rPr sz="1275" b="0">
                <a:solidFill>
                  <a:srgbClr val="C7D7E8"/>
                </a:solidFill>
              </a:rPr>
              <a:t>Instructor: Dr. Rizwan Munir</a:t>
            </a:r>
          </a:p>
        </p:txBody>
      </p:sp>
    </p:spTree>
    <p:extLst>
      <p:ext uri="{BB962C8B-B14F-4D97-AF65-F5344CB8AC3E}">
        <p14:creationId xmlns:p14="http://schemas.microsoft.com/office/powerpoint/2010/main" val="2014996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7605EE0-88B7-4E11-A59B-57DFCDC313C9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0B8C7"/>
                </a:solidFill>
              </a:defRPr>
            </a:pPr>
            <a:r>
              <a:rPr sz="1050" b="1">
                <a:solidFill>
                  <a:srgbClr val="20B8C7"/>
                </a:solidFill>
              </a:rPr>
              <a:t>THE UX PROBLEM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CAADB3-DC7A-47A7-B759-FF8EEC36E4AF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0243E"/>
                </a:solidFill>
              </a:defRPr>
            </a:pPr>
            <a:r>
              <a:rPr sz="2850" b="1">
                <a:solidFill>
                  <a:srgbClr val="10243E"/>
                </a:solidFill>
              </a:rPr>
              <a:t>Security fails when people cannot understand it.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0F6421F-EA9F-4F10-A5B7-AE5106464898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3333750" cy="3143250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 w="9525">
            <a:solidFill>
              <a:srgbClr val="D6E1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D13152-8693-4FC7-B526-8AB6A588FEC5}"/>
              </a:ext>
            </a:extLst>
          </p:cNvPr>
          <p:cNvSpPr>
            <a:spLocks noGrp="1"/>
          </p:cNvSpPr>
          <p:nvPr/>
        </p:nvSpPr>
        <p:spPr>
          <a:xfrm>
            <a:off x="952500" y="2238375"/>
            <a:ext cx="76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769E0"/>
                </a:solidFill>
              </a:defRPr>
            </a:pPr>
            <a:r>
              <a:rPr sz="1275" b="1">
                <a:solidFill>
                  <a:srgbClr val="1769E0"/>
                </a:solidFill>
              </a:rPr>
              <a:t>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2BCE99-3BA9-4D8E-9F14-474E90161A16}"/>
              </a:ext>
            </a:extLst>
          </p:cNvPr>
          <p:cNvSpPr>
            <a:spLocks noGrp="1"/>
          </p:cNvSpPr>
          <p:nvPr/>
        </p:nvSpPr>
        <p:spPr>
          <a:xfrm>
            <a:off x="952500" y="2952750"/>
            <a:ext cx="2800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>
                <a:solidFill>
                  <a:srgbClr val="10243E"/>
                </a:solidFill>
              </a:defRPr>
            </a:pPr>
            <a:r>
              <a:rPr sz="2400" b="1">
                <a:solidFill>
                  <a:srgbClr val="10243E"/>
                </a:solidFill>
              </a:rPr>
              <a:t>HIDDEN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1E2A2C-0AC4-4292-A929-6CB07F139A35}"/>
              </a:ext>
            </a:extLst>
          </p:cNvPr>
          <p:cNvSpPr>
            <a:spLocks noGrp="1"/>
          </p:cNvSpPr>
          <p:nvPr/>
        </p:nvSpPr>
        <p:spPr>
          <a:xfrm>
            <a:off x="952500" y="3714750"/>
            <a:ext cx="2800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61758F"/>
                </a:solidFill>
              </a:defRPr>
            </a:pPr>
            <a:r>
              <a:rPr sz="1500" b="0">
                <a:solidFill>
                  <a:srgbClr val="61758F"/>
                </a:solidFill>
              </a:rPr>
              <a:t>What is collected?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EF0AA8-94C4-43DC-BA4E-E3F43D5F1849}"/>
              </a:ext>
            </a:extLst>
          </p:cNvPr>
          <p:cNvSpPr>
            <a:spLocks noGrp="1"/>
          </p:cNvSpPr>
          <p:nvPr/>
        </p:nvSpPr>
        <p:spPr>
          <a:xfrm>
            <a:off x="952500" y="4619625"/>
            <a:ext cx="857250" cy="66675"/>
          </a:xfrm>
          <a:prstGeom prst="rect">
            <a:avLst/>
          </a:prstGeom>
          <a:solidFill>
            <a:srgbClr val="1769E0"/>
          </a:solidFill>
          <a:ln w="0">
            <a:noFill/>
            <a:prstDash val="solid"/>
          </a:ln>
        </p:spPr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3E27317-33AA-4448-89E9-8A94B9B0AADD}"/>
              </a:ext>
            </a:extLst>
          </p:cNvPr>
          <p:cNvSpPr>
            <a:spLocks noGrp="1"/>
          </p:cNvSpPr>
          <p:nvPr/>
        </p:nvSpPr>
        <p:spPr>
          <a:xfrm>
            <a:off x="4324350" y="2000250"/>
            <a:ext cx="3333750" cy="3143250"/>
          </a:xfrm>
          <a:prstGeom prst="roundRect">
            <a:avLst>
              <a:gd name="adj" fmla="val 8485"/>
            </a:avLst>
          </a:prstGeom>
          <a:solidFill>
            <a:srgbClr val="071B33"/>
          </a:solidFill>
          <a:ln w="9525">
            <a:solidFill>
              <a:srgbClr val="071B3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43F350-6AD4-4BF0-AF2B-445B52C63E7D}"/>
              </a:ext>
            </a:extLst>
          </p:cNvPr>
          <p:cNvSpPr>
            <a:spLocks noGrp="1"/>
          </p:cNvSpPr>
          <p:nvPr/>
        </p:nvSpPr>
        <p:spPr>
          <a:xfrm>
            <a:off x="4591050" y="2238375"/>
            <a:ext cx="76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20B8C7"/>
                </a:solidFill>
              </a:defRPr>
            </a:pPr>
            <a:r>
              <a:rPr sz="1275" b="1">
                <a:solidFill>
                  <a:srgbClr val="20B8C7"/>
                </a:solidFill>
              </a:rPr>
              <a:t>02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E01274-4DD6-4D51-9A91-6ADB6B839811}"/>
              </a:ext>
            </a:extLst>
          </p:cNvPr>
          <p:cNvSpPr>
            <a:spLocks noGrp="1"/>
          </p:cNvSpPr>
          <p:nvPr/>
        </p:nvSpPr>
        <p:spPr>
          <a:xfrm>
            <a:off x="4591050" y="2952750"/>
            <a:ext cx="2800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UNCLEAR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BB241A4-3210-4D24-B8B7-D89C6B1670BE}"/>
              </a:ext>
            </a:extLst>
          </p:cNvPr>
          <p:cNvSpPr>
            <a:spLocks noGrp="1"/>
          </p:cNvSpPr>
          <p:nvPr/>
        </p:nvSpPr>
        <p:spPr>
          <a:xfrm>
            <a:off x="4591050" y="3714750"/>
            <a:ext cx="2800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C8D9E8"/>
                </a:solidFill>
              </a:defRPr>
            </a:pPr>
            <a:r>
              <a:rPr sz="1500" b="0">
                <a:solidFill>
                  <a:srgbClr val="C8D9E8"/>
                </a:solidFill>
              </a:rPr>
              <a:t>Who can see it?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7EECF7-7171-4E8A-ACC1-264DF1F8E39E}"/>
              </a:ext>
            </a:extLst>
          </p:cNvPr>
          <p:cNvSpPr>
            <a:spLocks noGrp="1"/>
          </p:cNvSpPr>
          <p:nvPr/>
        </p:nvSpPr>
        <p:spPr>
          <a:xfrm>
            <a:off x="4591050" y="4619625"/>
            <a:ext cx="857250" cy="66675"/>
          </a:xfrm>
          <a:prstGeom prst="rect">
            <a:avLst/>
          </a:prstGeom>
          <a:solidFill>
            <a:srgbClr val="20B8C7"/>
          </a:solidFill>
          <a:ln w="0">
            <a:noFill/>
            <a:prstDash val="solid"/>
          </a:ln>
        </p:spPr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02DB738-0554-4C1E-A7C8-DEE0694C1CC8}"/>
              </a:ext>
            </a:extLst>
          </p:cNvPr>
          <p:cNvSpPr>
            <a:spLocks noGrp="1"/>
          </p:cNvSpPr>
          <p:nvPr/>
        </p:nvSpPr>
        <p:spPr>
          <a:xfrm>
            <a:off x="7962900" y="2000250"/>
            <a:ext cx="3333750" cy="3143250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 w="9525">
            <a:solidFill>
              <a:srgbClr val="D6E1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F8660-91D2-4FE7-853E-2E0F4B5FE87A}"/>
              </a:ext>
            </a:extLst>
          </p:cNvPr>
          <p:cNvSpPr>
            <a:spLocks noGrp="1"/>
          </p:cNvSpPr>
          <p:nvPr/>
        </p:nvSpPr>
        <p:spPr>
          <a:xfrm>
            <a:off x="8229600" y="2238375"/>
            <a:ext cx="76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769E0"/>
                </a:solidFill>
              </a:defRPr>
            </a:pPr>
            <a:r>
              <a:rPr sz="1275" b="1">
                <a:solidFill>
                  <a:srgbClr val="1769E0"/>
                </a:solidFill>
              </a:rPr>
              <a:t>03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81ACCE-749E-4158-B1F5-9D5B494CC81A}"/>
              </a:ext>
            </a:extLst>
          </p:cNvPr>
          <p:cNvSpPr>
            <a:spLocks noGrp="1"/>
          </p:cNvSpPr>
          <p:nvPr/>
        </p:nvSpPr>
        <p:spPr>
          <a:xfrm>
            <a:off x="8229600" y="2952750"/>
            <a:ext cx="2800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>
                <a:solidFill>
                  <a:srgbClr val="10243E"/>
                </a:solidFill>
              </a:defRPr>
            </a:pPr>
            <a:r>
              <a:rPr sz="2400" b="1">
                <a:solidFill>
                  <a:srgbClr val="10243E"/>
                </a:solidFill>
              </a:rPr>
              <a:t>UNCONTROLLED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1DE6630-015A-41F7-8718-4274C2BEECD5}"/>
              </a:ext>
            </a:extLst>
          </p:cNvPr>
          <p:cNvSpPr>
            <a:spLocks noGrp="1"/>
          </p:cNvSpPr>
          <p:nvPr/>
        </p:nvSpPr>
        <p:spPr>
          <a:xfrm>
            <a:off x="8229600" y="3714750"/>
            <a:ext cx="2800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61758F"/>
                </a:solidFill>
              </a:defRPr>
            </a:pPr>
            <a:r>
              <a:rPr sz="1500" b="0">
                <a:solidFill>
                  <a:srgbClr val="61758F"/>
                </a:solidFill>
              </a:rPr>
              <a:t>Can I reverse it?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27F6E20-940C-43A0-BAED-9213960BB027}"/>
              </a:ext>
            </a:extLst>
          </p:cNvPr>
          <p:cNvSpPr>
            <a:spLocks noGrp="1"/>
          </p:cNvSpPr>
          <p:nvPr/>
        </p:nvSpPr>
        <p:spPr>
          <a:xfrm>
            <a:off x="8229600" y="4619625"/>
            <a:ext cx="857250" cy="66675"/>
          </a:xfrm>
          <a:prstGeom prst="rect">
            <a:avLst/>
          </a:prstGeom>
          <a:solidFill>
            <a:srgbClr val="1769E0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5633317-D46A-4C48-A49F-6E67A918EF63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1769E0"/>
                </a:solidFill>
              </a:defRPr>
            </a:pPr>
            <a:r>
              <a:rPr sz="1125" b="1">
                <a:solidFill>
                  <a:srgbClr val="1769E0"/>
                </a:solidFill>
              </a:rPr>
              <a:t>Design goal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8BAED28-59DB-41EB-9A9E-46F3F85B5064}"/>
              </a:ext>
            </a:extLst>
          </p:cNvPr>
          <p:cNvSpPr>
            <a:spLocks noGrp="1"/>
          </p:cNvSpPr>
          <p:nvPr/>
        </p:nvSpPr>
        <p:spPr>
          <a:xfrm>
            <a:off x="2095500" y="5514975"/>
            <a:ext cx="933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>
                <a:solidFill>
                  <a:srgbClr val="10243E"/>
                </a:solidFill>
              </a:defRPr>
            </a:pPr>
            <a:r>
              <a:rPr sz="2100" b="1">
                <a:solidFill>
                  <a:srgbClr val="10243E"/>
                </a:solidFill>
              </a:rPr>
              <a:t>Make privacy visible at the exact moment of choice.</a:t>
            </a:r>
          </a:p>
        </p:txBody>
      </p:sp>
    </p:spTree>
    <p:extLst>
      <p:ext uri="{BB962C8B-B14F-4D97-AF65-F5344CB8AC3E}">
        <p14:creationId xmlns:p14="http://schemas.microsoft.com/office/powerpoint/2010/main" val="1162956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822F4BA-31D9-4A51-B44C-B1CA44936819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428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0B8C7"/>
                </a:solidFill>
              </a:defRPr>
            </a:pPr>
            <a:r>
              <a:rPr sz="1050" b="1">
                <a:solidFill>
                  <a:srgbClr val="20B8C7"/>
                </a:solidFill>
              </a:rPr>
              <a:t>OUR DESIGN RESPONSE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2D0517-55A2-4F62-9945-58064F4DB47D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59055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Trust is an interaction,</a:t>
            </a:r>
          </a:p>
          <a:p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not a label.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CE19961-0E7F-4241-8AF4-1D9DE19D5DCA}"/>
              </a:ext>
            </a:extLst>
          </p:cNvPr>
          <p:cNvSpPr>
            <a:spLocks noGrp="1"/>
          </p:cNvSpPr>
          <p:nvPr/>
        </p:nvSpPr>
        <p:spPr>
          <a:xfrm>
            <a:off x="685800" y="2952750"/>
            <a:ext cx="3314700" cy="1809750"/>
          </a:xfrm>
          <a:prstGeom prst="roundRect">
            <a:avLst>
              <a:gd name="adj" fmla="val 14737"/>
            </a:avLst>
          </a:prstGeom>
          <a:solidFill>
            <a:srgbClr val="0D2948"/>
          </a:solidFill>
          <a:ln w="9525">
            <a:solidFill>
              <a:srgbClr val="31506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0EE5B1-EBD0-4D9D-8A17-E5AB4509370B}"/>
              </a:ext>
            </a:extLst>
          </p:cNvPr>
          <p:cNvSpPr>
            <a:spLocks noGrp="1"/>
          </p:cNvSpPr>
          <p:nvPr/>
        </p:nvSpPr>
        <p:spPr>
          <a:xfrm>
            <a:off x="914400" y="32004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20B8C7"/>
                </a:solidFill>
              </a:defRPr>
            </a:pPr>
            <a:r>
              <a:rPr sz="1200" b="1">
                <a:solidFill>
                  <a:srgbClr val="20B8C7"/>
                </a:solidFill>
              </a:rPr>
              <a:t>VISIBLE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8AC138-8178-4245-84EB-FB933DF3ECB0}"/>
              </a:ext>
            </a:extLst>
          </p:cNvPr>
          <p:cNvSpPr>
            <a:spLocks noGrp="1"/>
          </p:cNvSpPr>
          <p:nvPr/>
        </p:nvSpPr>
        <p:spPr>
          <a:xfrm>
            <a:off x="914400" y="3695700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Privacy state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0B5617-5306-4E63-9D9A-78FBF2CC0250}"/>
              </a:ext>
            </a:extLst>
          </p:cNvPr>
          <p:cNvSpPr>
            <a:spLocks noGrp="1"/>
          </p:cNvSpPr>
          <p:nvPr/>
        </p:nvSpPr>
        <p:spPr>
          <a:xfrm>
            <a:off x="4000500" y="3476625"/>
            <a:ext cx="4000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550" b="1">
                <a:solidFill>
                  <a:srgbClr val="20B8C7"/>
                </a:solidFill>
              </a:defRPr>
            </a:pPr>
            <a:r>
              <a:rPr sz="2550" b="1">
                <a:solidFill>
                  <a:srgbClr val="20B8C7"/>
                </a:solidFill>
              </a:rPr>
              <a:t>+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AF593F5-FC4E-4548-8CDE-141035AD325D}"/>
              </a:ext>
            </a:extLst>
          </p:cNvPr>
          <p:cNvSpPr>
            <a:spLocks noGrp="1"/>
          </p:cNvSpPr>
          <p:nvPr/>
        </p:nvSpPr>
        <p:spPr>
          <a:xfrm>
            <a:off x="4400550" y="2952750"/>
            <a:ext cx="3314700" cy="1809750"/>
          </a:xfrm>
          <a:prstGeom prst="roundRect">
            <a:avLst>
              <a:gd name="adj" fmla="val 14737"/>
            </a:avLst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FD76B1-E258-4533-89A7-045CE3376E03}"/>
              </a:ext>
            </a:extLst>
          </p:cNvPr>
          <p:cNvSpPr>
            <a:spLocks noGrp="1"/>
          </p:cNvSpPr>
          <p:nvPr/>
        </p:nvSpPr>
        <p:spPr>
          <a:xfrm>
            <a:off x="4629150" y="32004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MEANINGFUL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F39681-AE9A-485F-941C-2FCC146E5481}"/>
              </a:ext>
            </a:extLst>
          </p:cNvPr>
          <p:cNvSpPr>
            <a:spLocks noGrp="1"/>
          </p:cNvSpPr>
          <p:nvPr/>
        </p:nvSpPr>
        <p:spPr>
          <a:xfrm>
            <a:off x="4629150" y="3695700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Consent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7256706-9EE5-43A9-B131-2761C6583D72}"/>
              </a:ext>
            </a:extLst>
          </p:cNvPr>
          <p:cNvSpPr>
            <a:spLocks noGrp="1"/>
          </p:cNvSpPr>
          <p:nvPr/>
        </p:nvSpPr>
        <p:spPr>
          <a:xfrm>
            <a:off x="7715250" y="3476625"/>
            <a:ext cx="4000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550" b="1">
                <a:solidFill>
                  <a:srgbClr val="20B8C7"/>
                </a:solidFill>
              </a:defRPr>
            </a:pPr>
            <a:r>
              <a:rPr sz="2550" b="1">
                <a:solidFill>
                  <a:srgbClr val="20B8C7"/>
                </a:solidFill>
              </a:rPr>
              <a:t>+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33BDD5F-0F4D-44DB-9541-7CA1998F36DE}"/>
              </a:ext>
            </a:extLst>
          </p:cNvPr>
          <p:cNvSpPr>
            <a:spLocks noGrp="1"/>
          </p:cNvSpPr>
          <p:nvPr/>
        </p:nvSpPr>
        <p:spPr>
          <a:xfrm>
            <a:off x="8115300" y="2952750"/>
            <a:ext cx="3314700" cy="1809750"/>
          </a:xfrm>
          <a:prstGeom prst="roundRect">
            <a:avLst>
              <a:gd name="adj" fmla="val 14737"/>
            </a:avLst>
          </a:prstGeom>
          <a:solidFill>
            <a:srgbClr val="0D2948"/>
          </a:solidFill>
          <a:ln w="9525">
            <a:solidFill>
              <a:srgbClr val="31506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F107692-A465-45B4-B85E-24D274E52B24}"/>
              </a:ext>
            </a:extLst>
          </p:cNvPr>
          <p:cNvSpPr>
            <a:spLocks noGrp="1"/>
          </p:cNvSpPr>
          <p:nvPr/>
        </p:nvSpPr>
        <p:spPr>
          <a:xfrm>
            <a:off x="8343900" y="32004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20B8C7"/>
                </a:solidFill>
              </a:defRPr>
            </a:pPr>
            <a:r>
              <a:rPr sz="1200" b="1">
                <a:solidFill>
                  <a:srgbClr val="20B8C7"/>
                </a:solidFill>
              </a:rPr>
              <a:t>REVERSIBLE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C080A6A-B52C-4749-ABDB-1F7BCC2826B7}"/>
              </a:ext>
            </a:extLst>
          </p:cNvPr>
          <p:cNvSpPr>
            <a:spLocks noGrp="1"/>
          </p:cNvSpPr>
          <p:nvPr/>
        </p:nvSpPr>
        <p:spPr>
          <a:xfrm>
            <a:off x="8343900" y="3695700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Control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7E65128-F15E-4CF4-8474-FAED2DC124AA}"/>
              </a:ext>
            </a:extLst>
          </p:cNvPr>
          <p:cNvSpPr>
            <a:spLocks noGrp="1"/>
          </p:cNvSpPr>
          <p:nvPr/>
        </p:nvSpPr>
        <p:spPr>
          <a:xfrm>
            <a:off x="685800" y="5381625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Privacy by Design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BB8AE9C-6320-4AA2-A166-6AC856FE64F4}"/>
              </a:ext>
            </a:extLst>
          </p:cNvPr>
          <p:cNvSpPr>
            <a:spLocks noGrp="1"/>
          </p:cNvSpPr>
          <p:nvPr/>
        </p:nvSpPr>
        <p:spPr>
          <a:xfrm>
            <a:off x="3905250" y="5381625"/>
            <a:ext cx="723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BED1E2"/>
                </a:solidFill>
              </a:defRPr>
            </a:pPr>
            <a:r>
              <a:rPr sz="1500" b="0">
                <a:solidFill>
                  <a:srgbClr val="BED1E2"/>
                </a:solidFill>
              </a:rPr>
              <a:t>Integrated into the flow — not buried in legal text.</a:t>
            </a:r>
          </a:p>
        </p:txBody>
      </p:sp>
    </p:spTree>
    <p:extLst>
      <p:ext uri="{BB962C8B-B14F-4D97-AF65-F5344CB8AC3E}">
        <p14:creationId xmlns:p14="http://schemas.microsoft.com/office/powerpoint/2010/main" val="1094303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97F7FDBE-5747-43E2-A203-1199F429C063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0B8C7"/>
                </a:solidFill>
              </a:defRPr>
            </a:pPr>
            <a:r>
              <a:rPr sz="1050" b="1">
                <a:solidFill>
                  <a:srgbClr val="20B8C7"/>
                </a:solidFill>
              </a:rPr>
              <a:t>CORE JOURNEY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9D6310D-FC4F-4319-8290-36701E3A00F7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0243E"/>
                </a:solidFill>
              </a:defRPr>
            </a:pPr>
            <a:r>
              <a:rPr sz="2850" b="1">
                <a:solidFill>
                  <a:srgbClr val="10243E"/>
                </a:solidFill>
              </a:rPr>
              <a:t>Five moments. One continuous feeling of control.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9A29D2A-B102-49FC-9B72-B4BADF110EEC}"/>
              </a:ext>
            </a:extLst>
          </p:cNvPr>
          <p:cNvSpPr>
            <a:spLocks noGrp="1"/>
          </p:cNvSpPr>
          <p:nvPr/>
        </p:nvSpPr>
        <p:spPr>
          <a:xfrm>
            <a:off x="762000" y="2476500"/>
            <a:ext cx="1714500" cy="1428750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 w="9525">
            <a:solidFill>
              <a:srgbClr val="D6E1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94DFAF6-2989-413A-A535-F4D89FEF32D0}"/>
              </a:ext>
            </a:extLst>
          </p:cNvPr>
          <p:cNvSpPr>
            <a:spLocks noGrp="1"/>
          </p:cNvSpPr>
          <p:nvPr/>
        </p:nvSpPr>
        <p:spPr>
          <a:xfrm>
            <a:off x="1409700" y="2124075"/>
            <a:ext cx="419100" cy="419100"/>
          </a:xfrm>
          <a:prstGeom prst="ellipse">
            <a:avLst/>
          </a:prstGeom>
          <a:solidFill>
            <a:srgbClr val="1769E0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13623C-F0F4-422F-BDEE-EEE24C2438EA}"/>
              </a:ext>
            </a:extLst>
          </p:cNvPr>
          <p:cNvSpPr>
            <a:spLocks noGrp="1"/>
          </p:cNvSpPr>
          <p:nvPr/>
        </p:nvSpPr>
        <p:spPr>
          <a:xfrm>
            <a:off x="1409700" y="2124075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57D671-1A91-4958-94E4-F2609C1B29D4}"/>
              </a:ext>
            </a:extLst>
          </p:cNvPr>
          <p:cNvSpPr>
            <a:spLocks noGrp="1"/>
          </p:cNvSpPr>
          <p:nvPr/>
        </p:nvSpPr>
        <p:spPr>
          <a:xfrm>
            <a:off x="914400" y="2933700"/>
            <a:ext cx="1409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0243E"/>
                </a:solidFill>
              </a:defRPr>
            </a:pPr>
            <a:r>
              <a:rPr sz="1350" b="1">
                <a:solidFill>
                  <a:srgbClr val="10243E"/>
                </a:solidFill>
              </a:rPr>
              <a:t>DISCOVER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8BF9AA8-0828-42C4-86F7-9DE30DC77E8B}"/>
              </a:ext>
            </a:extLst>
          </p:cNvPr>
          <p:cNvSpPr>
            <a:spLocks noGrp="1"/>
          </p:cNvSpPr>
          <p:nvPr/>
        </p:nvSpPr>
        <p:spPr>
          <a:xfrm>
            <a:off x="2971800" y="2476500"/>
            <a:ext cx="1714500" cy="1428750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 w="9525">
            <a:solidFill>
              <a:srgbClr val="D6E1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177A754-F1B1-469E-8419-50D6C266EAAE}"/>
              </a:ext>
            </a:extLst>
          </p:cNvPr>
          <p:cNvSpPr>
            <a:spLocks noGrp="1"/>
          </p:cNvSpPr>
          <p:nvPr/>
        </p:nvSpPr>
        <p:spPr>
          <a:xfrm>
            <a:off x="3619500" y="2124075"/>
            <a:ext cx="419100" cy="419100"/>
          </a:xfrm>
          <a:prstGeom prst="ellipse">
            <a:avLst/>
          </a:prstGeom>
          <a:solidFill>
            <a:srgbClr val="1769E0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60316BB-77B4-41B5-8124-8A57692C1B12}"/>
              </a:ext>
            </a:extLst>
          </p:cNvPr>
          <p:cNvSpPr>
            <a:spLocks noGrp="1"/>
          </p:cNvSpPr>
          <p:nvPr/>
        </p:nvSpPr>
        <p:spPr>
          <a:xfrm>
            <a:off x="3619500" y="2124075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0458FB-5839-4F23-9A1E-D9340126F211}"/>
              </a:ext>
            </a:extLst>
          </p:cNvPr>
          <p:cNvSpPr>
            <a:spLocks noGrp="1"/>
          </p:cNvSpPr>
          <p:nvPr/>
        </p:nvSpPr>
        <p:spPr>
          <a:xfrm>
            <a:off x="3124200" y="2933700"/>
            <a:ext cx="1409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0243E"/>
                </a:solidFill>
              </a:defRPr>
            </a:pPr>
            <a:r>
              <a:rPr sz="1350" b="1">
                <a:solidFill>
                  <a:srgbClr val="10243E"/>
                </a:solidFill>
              </a:rPr>
              <a:t>REQUEST</a:t>
            </a:r>
          </a:p>
        </p:txBody>
      </p:sp>
      <p:cxnSp>
        <p:nvCxnSpPr>
          <p:cNvPr id="48" name="Straight Arrow Connector 47"/>
          <p:cNvCxnSpPr>
            <a:stCxn id="3" idx="3"/>
            <a:endCxn id="7" idx="1"/>
          </p:cNvCxnSpPr>
          <p:nvPr/>
        </p:nvCxnSpPr>
        <p:spPr>
          <a:xfrm>
            <a:off x="2476500" y="3190875"/>
            <a:ext cx="495300" cy="0"/>
          </a:xfrm>
          <a:prstGeom prst="straightConnector1">
            <a:avLst/>
          </a:prstGeom>
          <a:ln w="38100">
            <a:solidFill>
              <a:srgbClr val="20B8C7"/>
            </a:solidFill>
            <a:prstDash val="solid"/>
            <a:tailEnd type="arrow" w="sm" len="sm"/>
          </a:ln>
        </p:spPr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38EBFA3-E19C-4FF4-9C8B-54A2E785987D}"/>
              </a:ext>
            </a:extLst>
          </p:cNvPr>
          <p:cNvSpPr>
            <a:spLocks noGrp="1"/>
          </p:cNvSpPr>
          <p:nvPr/>
        </p:nvSpPr>
        <p:spPr>
          <a:xfrm>
            <a:off x="5181600" y="2476500"/>
            <a:ext cx="1714500" cy="1428750"/>
          </a:xfrm>
          <a:prstGeom prst="roundRect">
            <a:avLst>
              <a:gd name="adj" fmla="val 18667"/>
            </a:avLst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AD2B972-806D-42F9-8786-08DC2143DCDF}"/>
              </a:ext>
            </a:extLst>
          </p:cNvPr>
          <p:cNvSpPr>
            <a:spLocks noGrp="1"/>
          </p:cNvSpPr>
          <p:nvPr/>
        </p:nvSpPr>
        <p:spPr>
          <a:xfrm>
            <a:off x="5829300" y="2124075"/>
            <a:ext cx="419100" cy="419100"/>
          </a:xfrm>
          <a:prstGeom prst="ellipse">
            <a:avLst/>
          </a:prstGeom>
          <a:solidFill>
            <a:srgbClr val="20B8C7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E41F8B3-F854-41F7-B69E-DCE16B6E632B}"/>
              </a:ext>
            </a:extLst>
          </p:cNvPr>
          <p:cNvSpPr>
            <a:spLocks noGrp="1"/>
          </p:cNvSpPr>
          <p:nvPr/>
        </p:nvSpPr>
        <p:spPr>
          <a:xfrm>
            <a:off x="5829300" y="2124075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CBE9F2E-9D97-4384-8386-5D517294837C}"/>
              </a:ext>
            </a:extLst>
          </p:cNvPr>
          <p:cNvSpPr>
            <a:spLocks noGrp="1"/>
          </p:cNvSpPr>
          <p:nvPr/>
        </p:nvSpPr>
        <p:spPr>
          <a:xfrm>
            <a:off x="5334000" y="2933700"/>
            <a:ext cx="1409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CONSENT</a:t>
            </a:r>
          </a:p>
        </p:txBody>
      </p:sp>
      <p:cxnSp>
        <p:nvCxnSpPr>
          <p:cNvPr id="53" name="Straight Arrow Connector 52"/>
          <p:cNvCxnSpPr>
            <a:stCxn id="7" idx="3"/>
            <a:endCxn id="12" idx="1"/>
          </p:cNvCxnSpPr>
          <p:nvPr/>
        </p:nvCxnSpPr>
        <p:spPr>
          <a:xfrm>
            <a:off x="4686300" y="3190875"/>
            <a:ext cx="495300" cy="0"/>
          </a:xfrm>
          <a:prstGeom prst="straightConnector1">
            <a:avLst/>
          </a:prstGeom>
          <a:ln w="38100">
            <a:solidFill>
              <a:srgbClr val="20B8C7"/>
            </a:solidFill>
            <a:prstDash val="solid"/>
            <a:tailEnd type="arrow" w="sm" len="sm"/>
          </a:ln>
        </p:spPr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74A878A-492E-4B17-84C9-210D475EF455}"/>
              </a:ext>
            </a:extLst>
          </p:cNvPr>
          <p:cNvSpPr>
            <a:spLocks noGrp="1"/>
          </p:cNvSpPr>
          <p:nvPr/>
        </p:nvSpPr>
        <p:spPr>
          <a:xfrm>
            <a:off x="7391400" y="2476500"/>
            <a:ext cx="1714500" cy="1428750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 w="9525">
            <a:solidFill>
              <a:srgbClr val="D6E1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84310C4-D504-436C-ACEB-6A251866F711}"/>
              </a:ext>
            </a:extLst>
          </p:cNvPr>
          <p:cNvSpPr>
            <a:spLocks noGrp="1"/>
          </p:cNvSpPr>
          <p:nvPr/>
        </p:nvSpPr>
        <p:spPr>
          <a:xfrm>
            <a:off x="8039100" y="2124075"/>
            <a:ext cx="419100" cy="419100"/>
          </a:xfrm>
          <a:prstGeom prst="ellipse">
            <a:avLst/>
          </a:prstGeom>
          <a:solidFill>
            <a:srgbClr val="1769E0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98A0173-9BBA-4AF5-B2F4-C923404B5B08}"/>
              </a:ext>
            </a:extLst>
          </p:cNvPr>
          <p:cNvSpPr>
            <a:spLocks noGrp="1"/>
          </p:cNvSpPr>
          <p:nvPr/>
        </p:nvSpPr>
        <p:spPr>
          <a:xfrm>
            <a:off x="8039100" y="2124075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B681467-3F68-476D-AF4F-EAA4CACA0317}"/>
              </a:ext>
            </a:extLst>
          </p:cNvPr>
          <p:cNvSpPr>
            <a:spLocks noGrp="1"/>
          </p:cNvSpPr>
          <p:nvPr/>
        </p:nvSpPr>
        <p:spPr>
          <a:xfrm>
            <a:off x="7543800" y="2933700"/>
            <a:ext cx="1409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0243E"/>
                </a:solidFill>
              </a:defRPr>
            </a:pPr>
            <a:r>
              <a:rPr sz="1350" b="1">
                <a:solidFill>
                  <a:srgbClr val="10243E"/>
                </a:solidFill>
              </a:rPr>
              <a:t>CHAT</a:t>
            </a:r>
          </a:p>
        </p:txBody>
      </p:sp>
      <p:cxnSp>
        <p:nvCxnSpPr>
          <p:cNvPr id="58" name="Straight Arrow Connector 57"/>
          <p:cNvCxnSpPr>
            <a:stCxn id="12" idx="3"/>
            <a:endCxn id="17" idx="1"/>
          </p:cNvCxnSpPr>
          <p:nvPr/>
        </p:nvCxnSpPr>
        <p:spPr>
          <a:xfrm>
            <a:off x="6896100" y="3190875"/>
            <a:ext cx="495300" cy="0"/>
          </a:xfrm>
          <a:prstGeom prst="straightConnector1">
            <a:avLst/>
          </a:prstGeom>
          <a:ln w="38100">
            <a:solidFill>
              <a:srgbClr val="20B8C7"/>
            </a:solidFill>
            <a:prstDash val="solid"/>
            <a:tailEnd type="arrow" w="sm" len="sm"/>
          </a:ln>
        </p:spPr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2D9366A-FE56-4833-984F-8B263A7C2B29}"/>
              </a:ext>
            </a:extLst>
          </p:cNvPr>
          <p:cNvSpPr>
            <a:spLocks noGrp="1"/>
          </p:cNvSpPr>
          <p:nvPr/>
        </p:nvSpPr>
        <p:spPr>
          <a:xfrm>
            <a:off x="9601200" y="2476500"/>
            <a:ext cx="1714500" cy="1428750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 w="9525">
            <a:solidFill>
              <a:srgbClr val="D6E1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D07DB10-FAE1-4DC3-AB15-34D58DBA1692}"/>
              </a:ext>
            </a:extLst>
          </p:cNvPr>
          <p:cNvSpPr>
            <a:spLocks noGrp="1"/>
          </p:cNvSpPr>
          <p:nvPr/>
        </p:nvSpPr>
        <p:spPr>
          <a:xfrm>
            <a:off x="10248900" y="2124075"/>
            <a:ext cx="419100" cy="419100"/>
          </a:xfrm>
          <a:prstGeom prst="ellipse">
            <a:avLst/>
          </a:prstGeom>
          <a:solidFill>
            <a:srgbClr val="1769E0"/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4E88129-099C-4C37-993A-36A9B2E62BE4}"/>
              </a:ext>
            </a:extLst>
          </p:cNvPr>
          <p:cNvSpPr>
            <a:spLocks noGrp="1"/>
          </p:cNvSpPr>
          <p:nvPr/>
        </p:nvSpPr>
        <p:spPr>
          <a:xfrm>
            <a:off x="10248900" y="2124075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E2BF2B7-15A8-43B6-B9A1-A07EF89A3CB1}"/>
              </a:ext>
            </a:extLst>
          </p:cNvPr>
          <p:cNvSpPr>
            <a:spLocks noGrp="1"/>
          </p:cNvSpPr>
          <p:nvPr/>
        </p:nvSpPr>
        <p:spPr>
          <a:xfrm>
            <a:off x="9753600" y="2933700"/>
            <a:ext cx="1409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0243E"/>
                </a:solidFill>
              </a:defRPr>
            </a:pPr>
            <a:r>
              <a:rPr sz="1350" b="1">
                <a:solidFill>
                  <a:srgbClr val="10243E"/>
                </a:solidFill>
              </a:rPr>
              <a:t>CONTROL</a:t>
            </a:r>
          </a:p>
        </p:txBody>
      </p:sp>
      <p:cxnSp>
        <p:nvCxnSpPr>
          <p:cNvPr id="63" name="Straight Arrow Connector 62"/>
          <p:cNvCxnSpPr>
            <a:stCxn id="17" idx="3"/>
            <a:endCxn id="22" idx="1"/>
          </p:cNvCxnSpPr>
          <p:nvPr/>
        </p:nvCxnSpPr>
        <p:spPr>
          <a:xfrm>
            <a:off x="9105900" y="3190875"/>
            <a:ext cx="495300" cy="0"/>
          </a:xfrm>
          <a:prstGeom prst="straightConnector1">
            <a:avLst/>
          </a:prstGeom>
          <a:ln w="38100">
            <a:solidFill>
              <a:srgbClr val="20B8C7"/>
            </a:solidFill>
            <a:prstDash val="solid"/>
            <a:tailEnd type="arrow" w="sm" len="sm"/>
          </a:ln>
        </p:spPr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829BD32-39C5-4094-A325-57A7C9A258D5}"/>
              </a:ext>
            </a:extLst>
          </p:cNvPr>
          <p:cNvSpPr>
            <a:spLocks noGrp="1"/>
          </p:cNvSpPr>
          <p:nvPr/>
        </p:nvSpPr>
        <p:spPr>
          <a:xfrm>
            <a:off x="1104900" y="4533900"/>
            <a:ext cx="1762125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6E1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7E85A81-56B1-456C-829A-1E2538899298}"/>
              </a:ext>
            </a:extLst>
          </p:cNvPr>
          <p:cNvSpPr>
            <a:spLocks noGrp="1"/>
          </p:cNvSpPr>
          <p:nvPr/>
        </p:nvSpPr>
        <p:spPr>
          <a:xfrm>
            <a:off x="1181100" y="4533900"/>
            <a:ext cx="16097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10243E"/>
                </a:solidFill>
              </a:defRPr>
            </a:pPr>
            <a:r>
              <a:rPr sz="1200" b="1">
                <a:solidFill>
                  <a:srgbClr val="10243E"/>
                </a:solidFill>
              </a:rPr>
              <a:t>Limited discovery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AD06D60-4E9B-4713-8C01-7DD0E259DD28}"/>
              </a:ext>
            </a:extLst>
          </p:cNvPr>
          <p:cNvSpPr>
            <a:spLocks noGrp="1"/>
          </p:cNvSpPr>
          <p:nvPr/>
        </p:nvSpPr>
        <p:spPr>
          <a:xfrm>
            <a:off x="3314700" y="4533900"/>
            <a:ext cx="1762125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6E1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2D13684-E35A-40E7-90EE-03B58FD99C21}"/>
              </a:ext>
            </a:extLst>
          </p:cNvPr>
          <p:cNvSpPr>
            <a:spLocks noGrp="1"/>
          </p:cNvSpPr>
          <p:nvPr/>
        </p:nvSpPr>
        <p:spPr>
          <a:xfrm>
            <a:off x="3390900" y="4533900"/>
            <a:ext cx="16097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10243E"/>
                </a:solidFill>
              </a:defRPr>
            </a:pPr>
            <a:r>
              <a:rPr sz="1200" b="1">
                <a:solidFill>
                  <a:srgbClr val="10243E"/>
                </a:solidFill>
              </a:rPr>
              <a:t>Intro message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F5823DF-D5C9-4DF7-8016-F915CFC47DA4}"/>
              </a:ext>
            </a:extLst>
          </p:cNvPr>
          <p:cNvSpPr>
            <a:spLocks noGrp="1"/>
          </p:cNvSpPr>
          <p:nvPr/>
        </p:nvSpPr>
        <p:spPr>
          <a:xfrm>
            <a:off x="5524500" y="4533900"/>
            <a:ext cx="1762125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6E1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CBA83E8-75B4-4D82-A299-B7AA6319F744}"/>
              </a:ext>
            </a:extLst>
          </p:cNvPr>
          <p:cNvSpPr>
            <a:spLocks noGrp="1"/>
          </p:cNvSpPr>
          <p:nvPr/>
        </p:nvSpPr>
        <p:spPr>
          <a:xfrm>
            <a:off x="5600700" y="4533900"/>
            <a:ext cx="16097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10243E"/>
                </a:solidFill>
              </a:defRPr>
            </a:pPr>
            <a:r>
              <a:rPr sz="1200" b="1">
                <a:solidFill>
                  <a:srgbClr val="10243E"/>
                </a:solidFill>
              </a:rPr>
              <a:t>Accept / decline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D625FE3E-2C4D-442C-98A4-7FFFB7BC6048}"/>
              </a:ext>
            </a:extLst>
          </p:cNvPr>
          <p:cNvSpPr>
            <a:spLocks noGrp="1"/>
          </p:cNvSpPr>
          <p:nvPr/>
        </p:nvSpPr>
        <p:spPr>
          <a:xfrm>
            <a:off x="7734300" y="4533900"/>
            <a:ext cx="1762125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6E1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C6A857C-9650-4465-99DE-91AB2A1E6BC6}"/>
              </a:ext>
            </a:extLst>
          </p:cNvPr>
          <p:cNvSpPr>
            <a:spLocks noGrp="1"/>
          </p:cNvSpPr>
          <p:nvPr/>
        </p:nvSpPr>
        <p:spPr>
          <a:xfrm>
            <a:off x="7810500" y="4533900"/>
            <a:ext cx="16097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10243E"/>
                </a:solidFill>
              </a:defRPr>
            </a:pPr>
            <a:r>
              <a:rPr sz="1200" b="1">
                <a:solidFill>
                  <a:srgbClr val="10243E"/>
                </a:solidFill>
              </a:rPr>
              <a:t>E2EE feedback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3FD9C7C5-37AA-4700-AB6C-3FE18F2C805C}"/>
              </a:ext>
            </a:extLst>
          </p:cNvPr>
          <p:cNvSpPr>
            <a:spLocks noGrp="1"/>
          </p:cNvSpPr>
          <p:nvPr/>
        </p:nvSpPr>
        <p:spPr>
          <a:xfrm>
            <a:off x="9944100" y="4533900"/>
            <a:ext cx="1571625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6E1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D1A9C8D-0330-45BB-B2D9-5AC320740868}"/>
              </a:ext>
            </a:extLst>
          </p:cNvPr>
          <p:cNvSpPr>
            <a:spLocks noGrp="1"/>
          </p:cNvSpPr>
          <p:nvPr/>
        </p:nvSpPr>
        <p:spPr>
          <a:xfrm>
            <a:off x="10020300" y="4533900"/>
            <a:ext cx="14192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10243E"/>
                </a:solidFill>
              </a:defRPr>
            </a:pPr>
            <a:r>
              <a:rPr sz="1200" b="1">
                <a:solidFill>
                  <a:srgbClr val="10243E"/>
                </a:solidFill>
              </a:rPr>
              <a:t>Export / wipe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F03BDFC-FEF6-4A2B-BFDE-47EE96203394}"/>
              </a:ext>
            </a:extLst>
          </p:cNvPr>
          <p:cNvSpPr>
            <a:spLocks noGrp="1"/>
          </p:cNvSpPr>
          <p:nvPr/>
        </p:nvSpPr>
        <p:spPr>
          <a:xfrm>
            <a:off x="685800" y="5638800"/>
            <a:ext cx="10820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10243E"/>
                </a:solidFill>
              </a:defRPr>
            </a:pPr>
            <a:r>
              <a:rPr sz="2100" b="1">
                <a:solidFill>
                  <a:srgbClr val="10243E"/>
                </a:solidFill>
              </a:rPr>
              <a:t>Every step answers: “What happens next?”</a:t>
            </a:r>
          </a:p>
        </p:txBody>
      </p:sp>
    </p:spTree>
    <p:extLst>
      <p:ext uri="{BB962C8B-B14F-4D97-AF65-F5344CB8AC3E}">
        <p14:creationId xmlns:p14="http://schemas.microsoft.com/office/powerpoint/2010/main" val="1324966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9DB44296-D5C6-442B-92F0-99C98F3D982E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666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0B8C7"/>
                </a:solidFill>
              </a:defRPr>
            </a:pPr>
            <a:r>
              <a:rPr sz="1050" b="1">
                <a:solidFill>
                  <a:srgbClr val="20B8C7"/>
                </a:solidFill>
              </a:rPr>
              <a:t>CONSENT BEFORE CONNECTION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570100-FDEB-4B02-84D2-0C635FC1509D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A request is a conversation — not a dark pattern.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rcRect l="24883" r="24883"/>
          <a:stretch>
            <a:fillRect/>
          </a:stretch>
        </p:blipFill>
        <p:spPr>
          <a:xfrm>
            <a:off x="685800" y="1638300"/>
            <a:ext cx="3333750" cy="3333750"/>
          </a:xfrm>
          <a:prstGeom prst="roundRect">
            <a:avLst>
              <a:gd name="adj" fmla="val 6857"/>
            </a:avLst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429125" y="1495985"/>
            <a:ext cx="3333750" cy="3627904"/>
          </a:xfrm>
          <a:prstGeom prst="roundRect">
            <a:avLst>
              <a:gd name="adj" fmla="val 6857"/>
            </a:avLst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172450" y="2171349"/>
            <a:ext cx="3333750" cy="2143827"/>
          </a:xfrm>
          <a:prstGeom prst="roundRect">
            <a:avLst>
              <a:gd name="adj" fmla="val 9796"/>
            </a:avLst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A53469CD-71C2-4E13-9182-705F2D689783}"/>
              </a:ext>
            </a:extLst>
          </p:cNvPr>
          <p:cNvSpPr>
            <a:spLocks noGrp="1"/>
          </p:cNvSpPr>
          <p:nvPr/>
        </p:nvSpPr>
        <p:spPr>
          <a:xfrm>
            <a:off x="723900" y="5486400"/>
            <a:ext cx="457200" cy="457200"/>
          </a:xfrm>
          <a:prstGeom prst="ellipse">
            <a:avLst/>
          </a:prstGeom>
          <a:solidFill>
            <a:srgbClr val="1769E0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072FD0-4ABC-4CC8-8DD9-E43480358726}"/>
              </a:ext>
            </a:extLst>
          </p:cNvPr>
          <p:cNvSpPr>
            <a:spLocks noGrp="1"/>
          </p:cNvSpPr>
          <p:nvPr/>
        </p:nvSpPr>
        <p:spPr>
          <a:xfrm>
            <a:off x="762000" y="5524500"/>
            <a:ext cx="38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78AA1C-24BA-4FF9-9857-9BD56568E97B}"/>
              </a:ext>
            </a:extLst>
          </p:cNvPr>
          <p:cNvSpPr>
            <a:spLocks noGrp="1"/>
          </p:cNvSpPr>
          <p:nvPr/>
        </p:nvSpPr>
        <p:spPr>
          <a:xfrm>
            <a:off x="1276350" y="5505450"/>
            <a:ext cx="23336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Find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E739DF0-EB62-4D2B-AD01-D9A36EE3D7ED}"/>
              </a:ext>
            </a:extLst>
          </p:cNvPr>
          <p:cNvSpPr>
            <a:spLocks noGrp="1"/>
          </p:cNvSpPr>
          <p:nvPr/>
        </p:nvSpPr>
        <p:spPr>
          <a:xfrm>
            <a:off x="4467225" y="5486400"/>
            <a:ext cx="457200" cy="457200"/>
          </a:xfrm>
          <a:prstGeom prst="ellipse">
            <a:avLst/>
          </a:prstGeom>
          <a:solidFill>
            <a:srgbClr val="1769E0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DE0E110-279A-4A2E-8923-91B07B46858A}"/>
              </a:ext>
            </a:extLst>
          </p:cNvPr>
          <p:cNvSpPr>
            <a:spLocks noGrp="1"/>
          </p:cNvSpPr>
          <p:nvPr/>
        </p:nvSpPr>
        <p:spPr>
          <a:xfrm>
            <a:off x="4505325" y="5524500"/>
            <a:ext cx="38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BCC0C7-4F0B-4F55-90DF-9C6B45CA67D1}"/>
              </a:ext>
            </a:extLst>
          </p:cNvPr>
          <p:cNvSpPr>
            <a:spLocks noGrp="1"/>
          </p:cNvSpPr>
          <p:nvPr/>
        </p:nvSpPr>
        <p:spPr>
          <a:xfrm>
            <a:off x="5019675" y="5505450"/>
            <a:ext cx="23336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Explain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B41DB79-4920-4B38-A73E-35A25822EC8D}"/>
              </a:ext>
            </a:extLst>
          </p:cNvPr>
          <p:cNvSpPr>
            <a:spLocks noGrp="1"/>
          </p:cNvSpPr>
          <p:nvPr/>
        </p:nvSpPr>
        <p:spPr>
          <a:xfrm>
            <a:off x="8210550" y="5486400"/>
            <a:ext cx="457200" cy="457200"/>
          </a:xfrm>
          <a:prstGeom prst="ellipse">
            <a:avLst/>
          </a:prstGeom>
          <a:solidFill>
            <a:srgbClr val="1769E0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3DDAB7-E1DE-4261-90B9-054E23F01D56}"/>
              </a:ext>
            </a:extLst>
          </p:cNvPr>
          <p:cNvSpPr>
            <a:spLocks noGrp="1"/>
          </p:cNvSpPr>
          <p:nvPr/>
        </p:nvSpPr>
        <p:spPr>
          <a:xfrm>
            <a:off x="8248650" y="5524500"/>
            <a:ext cx="38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A91C2A-029D-47CD-91B9-52218BC76ABD}"/>
              </a:ext>
            </a:extLst>
          </p:cNvPr>
          <p:cNvSpPr>
            <a:spLocks noGrp="1"/>
          </p:cNvSpPr>
          <p:nvPr/>
        </p:nvSpPr>
        <p:spPr>
          <a:xfrm>
            <a:off x="8763000" y="5505450"/>
            <a:ext cx="23336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Choose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87A439-5B72-418A-B5FD-A358BA752DAF}"/>
              </a:ext>
            </a:extLst>
          </p:cNvPr>
          <p:cNvSpPr>
            <a:spLocks noGrp="1"/>
          </p:cNvSpPr>
          <p:nvPr/>
        </p:nvSpPr>
        <p:spPr>
          <a:xfrm>
            <a:off x="685800" y="6229350"/>
            <a:ext cx="10820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0">
                <a:solidFill>
                  <a:srgbClr val="BDD0E2"/>
                </a:solidFill>
              </a:defRPr>
            </a:pPr>
            <a:r>
              <a:rPr sz="1350" b="0">
                <a:solidFill>
                  <a:srgbClr val="BDD0E2"/>
                </a:solidFill>
              </a:rPr>
              <a:t>Identity stays limited until acceptance.</a:t>
            </a:r>
          </a:p>
        </p:txBody>
      </p:sp>
    </p:spTree>
    <p:extLst>
      <p:ext uri="{BB962C8B-B14F-4D97-AF65-F5344CB8AC3E}">
        <p14:creationId xmlns:p14="http://schemas.microsoft.com/office/powerpoint/2010/main" val="1764222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8267837-700E-4920-81CA-1B44474374FB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0B8C7"/>
                </a:solidFill>
              </a:defRPr>
            </a:pPr>
            <a:r>
              <a:rPr sz="1050" b="1">
                <a:solidFill>
                  <a:srgbClr val="20B8C7"/>
                </a:solidFill>
              </a:rPr>
              <a:t>CONTROL CENTRE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FFDBC57-276C-47ED-8BEA-85192D312167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0243E"/>
                </a:solidFill>
              </a:defRPr>
            </a:pPr>
            <a:r>
              <a:rPr sz="2850" b="1">
                <a:solidFill>
                  <a:srgbClr val="10243E"/>
                </a:solidFill>
              </a:rPr>
              <a:t>Privacy settings explain consequences before change.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rcRect l="8153" r="8153"/>
          <a:stretch>
            <a:fillRect/>
          </a:stretch>
        </p:blipFill>
        <p:spPr>
          <a:xfrm>
            <a:off x="685800" y="1790700"/>
            <a:ext cx="7477125" cy="4191000"/>
          </a:xfrm>
          <a:prstGeom prst="roundRect">
            <a:avLst>
              <a:gd name="adj" fmla="val 5455"/>
            </a:avLst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3B9BDF1-3AAC-4507-9C10-F2E5E5FAE7EA}"/>
              </a:ext>
            </a:extLst>
          </p:cNvPr>
          <p:cNvSpPr>
            <a:spLocks noGrp="1"/>
          </p:cNvSpPr>
          <p:nvPr/>
        </p:nvSpPr>
        <p:spPr>
          <a:xfrm>
            <a:off x="8524875" y="1952625"/>
            <a:ext cx="2981325" cy="1000125"/>
          </a:xfrm>
          <a:prstGeom prst="roundRect">
            <a:avLst>
              <a:gd name="adj" fmla="val 20952"/>
            </a:avLst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47C372-C004-496C-9E5C-E279D72168C4}"/>
              </a:ext>
            </a:extLst>
          </p:cNvPr>
          <p:cNvSpPr>
            <a:spLocks noGrp="1"/>
          </p:cNvSpPr>
          <p:nvPr/>
        </p:nvSpPr>
        <p:spPr>
          <a:xfrm>
            <a:off x="8734425" y="2085975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DISCOVERABILITY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433613-17FB-4D41-B175-77D7D750A2F0}"/>
              </a:ext>
            </a:extLst>
          </p:cNvPr>
          <p:cNvSpPr>
            <a:spLocks noGrp="1"/>
          </p:cNvSpPr>
          <p:nvPr/>
        </p:nvSpPr>
        <p:spPr>
          <a:xfrm>
            <a:off x="8734425" y="2352675"/>
            <a:ext cx="2571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Who can find me?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3451ED7-5267-484B-AE47-A881A5572D29}"/>
              </a:ext>
            </a:extLst>
          </p:cNvPr>
          <p:cNvSpPr>
            <a:spLocks noGrp="1"/>
          </p:cNvSpPr>
          <p:nvPr/>
        </p:nvSpPr>
        <p:spPr>
          <a:xfrm>
            <a:off x="8524875" y="3238500"/>
            <a:ext cx="2981325" cy="1000125"/>
          </a:xfrm>
          <a:prstGeom prst="roundRect">
            <a:avLst>
              <a:gd name="adj" fmla="val 20952"/>
            </a:avLst>
          </a:prstGeom>
          <a:solidFill>
            <a:srgbClr val="FFFFFF"/>
          </a:solidFill>
          <a:ln w="9525">
            <a:solidFill>
              <a:srgbClr val="D6E1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D6EA80-336A-442D-9183-DE2D98B69CCD}"/>
              </a:ext>
            </a:extLst>
          </p:cNvPr>
          <p:cNvSpPr>
            <a:spLocks noGrp="1"/>
          </p:cNvSpPr>
          <p:nvPr/>
        </p:nvSpPr>
        <p:spPr>
          <a:xfrm>
            <a:off x="8734425" y="3371850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769E0"/>
                </a:solidFill>
              </a:defRPr>
            </a:pPr>
            <a:r>
              <a:rPr sz="1050" b="1">
                <a:solidFill>
                  <a:srgbClr val="1769E0"/>
                </a:solidFill>
              </a:rPr>
              <a:t>IDENTITY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478824-8DFC-47A9-BFD7-63DA8C5BBC80}"/>
              </a:ext>
            </a:extLst>
          </p:cNvPr>
          <p:cNvSpPr>
            <a:spLocks noGrp="1"/>
          </p:cNvSpPr>
          <p:nvPr/>
        </p:nvSpPr>
        <p:spPr>
          <a:xfrm>
            <a:off x="8734425" y="3638550"/>
            <a:ext cx="2571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0243E"/>
                </a:solidFill>
              </a:defRPr>
            </a:pPr>
            <a:r>
              <a:rPr sz="1500" b="1">
                <a:solidFill>
                  <a:srgbClr val="10243E"/>
                </a:solidFill>
              </a:rPr>
              <a:t>When is my photo visible?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12B2651-9134-4317-B897-0FD9B89E0F0A}"/>
              </a:ext>
            </a:extLst>
          </p:cNvPr>
          <p:cNvSpPr>
            <a:spLocks noGrp="1"/>
          </p:cNvSpPr>
          <p:nvPr/>
        </p:nvSpPr>
        <p:spPr>
          <a:xfrm>
            <a:off x="8524875" y="4524375"/>
            <a:ext cx="2981325" cy="1000125"/>
          </a:xfrm>
          <a:prstGeom prst="roundRect">
            <a:avLst>
              <a:gd name="adj" fmla="val 20952"/>
            </a:avLst>
          </a:prstGeom>
          <a:solidFill>
            <a:srgbClr val="FFFFFF"/>
          </a:solidFill>
          <a:ln w="9525">
            <a:solidFill>
              <a:srgbClr val="D6E1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9CFFBE8-A8FC-4F14-B191-0940907BD143}"/>
              </a:ext>
            </a:extLst>
          </p:cNvPr>
          <p:cNvSpPr>
            <a:spLocks noGrp="1"/>
          </p:cNvSpPr>
          <p:nvPr/>
        </p:nvSpPr>
        <p:spPr>
          <a:xfrm>
            <a:off x="8734425" y="4657725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769E0"/>
                </a:solidFill>
              </a:defRPr>
            </a:pPr>
            <a:r>
              <a:rPr sz="1050" b="1">
                <a:solidFill>
                  <a:srgbClr val="1769E0"/>
                </a:solidFill>
              </a:rPr>
              <a:t>RELATIONSHIP SIGNALS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0691D9-7122-4A03-BBE9-74C5B4F03B8C}"/>
              </a:ext>
            </a:extLst>
          </p:cNvPr>
          <p:cNvSpPr>
            <a:spLocks noGrp="1"/>
          </p:cNvSpPr>
          <p:nvPr/>
        </p:nvSpPr>
        <p:spPr>
          <a:xfrm>
            <a:off x="8734425" y="4924425"/>
            <a:ext cx="2571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0243E"/>
                </a:solidFill>
              </a:defRPr>
            </a:pPr>
            <a:r>
              <a:rPr sz="1500" b="1">
                <a:solidFill>
                  <a:srgbClr val="10243E"/>
                </a:solidFill>
              </a:rPr>
              <a:t>Who sees presence?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6490520-D8B2-4063-B44D-02D0496D6C44}"/>
              </a:ext>
            </a:extLst>
          </p:cNvPr>
          <p:cNvSpPr>
            <a:spLocks noGrp="1"/>
          </p:cNvSpPr>
          <p:nvPr/>
        </p:nvSpPr>
        <p:spPr>
          <a:xfrm>
            <a:off x="8686800" y="5848350"/>
            <a:ext cx="2571750" cy="381000"/>
          </a:xfrm>
          <a:prstGeom prst="roundRect">
            <a:avLst>
              <a:gd name="adj" fmla="val 50000"/>
            </a:avLst>
          </a:prstGeom>
          <a:solidFill>
            <a:srgbClr val="B9F5E4"/>
          </a:solidFill>
          <a:ln w="9525">
            <a:solidFill>
              <a:srgbClr val="D6E1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B1F5D5-D650-41D7-9286-701E8212E1AA}"/>
              </a:ext>
            </a:extLst>
          </p:cNvPr>
          <p:cNvSpPr>
            <a:spLocks noGrp="1"/>
          </p:cNvSpPr>
          <p:nvPr/>
        </p:nvSpPr>
        <p:spPr>
          <a:xfrm>
            <a:off x="8763000" y="5848350"/>
            <a:ext cx="2419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10243E"/>
                </a:solidFill>
              </a:defRPr>
            </a:pPr>
            <a:r>
              <a:rPr sz="1200" b="1">
                <a:solidFill>
                  <a:srgbClr val="10243E"/>
                </a:solidFill>
              </a:rPr>
              <a:t>No hidden trade-offs</a:t>
            </a:r>
          </a:p>
        </p:txBody>
      </p:sp>
    </p:spTree>
    <p:extLst>
      <p:ext uri="{BB962C8B-B14F-4D97-AF65-F5344CB8AC3E}">
        <p14:creationId xmlns:p14="http://schemas.microsoft.com/office/powerpoint/2010/main" val="1266405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87EF6487-F52B-496E-BD92-1B533EE887DC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0B8C7"/>
                </a:solidFill>
              </a:defRPr>
            </a:pPr>
            <a:r>
              <a:rPr sz="1050" b="1">
                <a:solidFill>
                  <a:srgbClr val="20B8C7"/>
                </a:solidFill>
              </a:rPr>
              <a:t>PROGRESSIVE DISCLOSURE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A0FE97-6022-43B2-B9B4-613E77101148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47625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Show reassurance first.</a:t>
            </a:r>
          </a:p>
          <a:p>
            <a:pPr algn="l"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Technical detail on demand.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rcRect l="7841" r="7841"/>
          <a:stretch>
            <a:fillRect/>
          </a:stretch>
        </p:blipFill>
        <p:spPr>
          <a:xfrm>
            <a:off x="5429250" y="514350"/>
            <a:ext cx="6076950" cy="3409950"/>
          </a:xfrm>
          <a:prstGeom prst="roundRect">
            <a:avLst>
              <a:gd name="adj" fmla="val 6704"/>
            </a:avLst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D70E841-B14E-4FBF-B846-3432DE2A6811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4000500" cy="1104900"/>
          </a:xfrm>
          <a:prstGeom prst="roundRect">
            <a:avLst>
              <a:gd name="adj" fmla="val 20690"/>
            </a:avLst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C47304-9E17-4FA1-B395-8D8266315F4F}"/>
              </a:ext>
            </a:extLst>
          </p:cNvPr>
          <p:cNvSpPr>
            <a:spLocks noGrp="1"/>
          </p:cNvSpPr>
          <p:nvPr/>
        </p:nvSpPr>
        <p:spPr>
          <a:xfrm>
            <a:off x="933450" y="2609850"/>
            <a:ext cx="342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🔒  End-to-end encrypted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E2F7F3-2022-4E21-9EC8-73020FA58849}"/>
              </a:ext>
            </a:extLst>
          </p:cNvPr>
          <p:cNvSpPr>
            <a:spLocks noGrp="1"/>
          </p:cNvSpPr>
          <p:nvPr/>
        </p:nvSpPr>
        <p:spPr>
          <a:xfrm>
            <a:off x="933450" y="3038475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DDEBFF"/>
                </a:solidFill>
              </a:defRPr>
            </a:pPr>
            <a:r>
              <a:rPr sz="1275" b="0">
                <a:solidFill>
                  <a:srgbClr val="DDEBFF"/>
                </a:solidFill>
              </a:rPr>
              <a:t>Visible in the chat header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6D4C434-638C-4DCA-9218-3898826CDCFA}"/>
              </a:ext>
            </a:extLst>
          </p:cNvPr>
          <p:cNvSpPr>
            <a:spLocks noGrp="1"/>
          </p:cNvSpPr>
          <p:nvPr/>
        </p:nvSpPr>
        <p:spPr>
          <a:xfrm>
            <a:off x="685800" y="4038600"/>
            <a:ext cx="4000500" cy="1428750"/>
          </a:xfrm>
          <a:prstGeom prst="roundRect">
            <a:avLst>
              <a:gd name="adj" fmla="val 16000"/>
            </a:avLst>
          </a:prstGeom>
          <a:solidFill>
            <a:srgbClr val="0D2948"/>
          </a:solidFill>
          <a:ln w="9525">
            <a:solidFill>
              <a:srgbClr val="36547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6E161B-1C75-4894-9686-C953CD512AA7}"/>
              </a:ext>
            </a:extLst>
          </p:cNvPr>
          <p:cNvSpPr>
            <a:spLocks noGrp="1"/>
          </p:cNvSpPr>
          <p:nvPr/>
        </p:nvSpPr>
        <p:spPr>
          <a:xfrm>
            <a:off x="933450" y="42481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20B8C7"/>
                </a:solidFill>
              </a:defRPr>
            </a:pPr>
            <a:r>
              <a:rPr sz="1275" b="1">
                <a:solidFill>
                  <a:srgbClr val="20B8C7"/>
                </a:solidFill>
              </a:rPr>
              <a:t>Protected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FEE5A8-C3F8-4C80-A4C3-42DD3F82343A}"/>
              </a:ext>
            </a:extLst>
          </p:cNvPr>
          <p:cNvSpPr>
            <a:spLocks noGrp="1"/>
          </p:cNvSpPr>
          <p:nvPr/>
        </p:nvSpPr>
        <p:spPr>
          <a:xfrm>
            <a:off x="933450" y="4591050"/>
            <a:ext cx="1714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Message content</a:t>
            </a:r>
          </a:p>
          <a:p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Attachments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332231-1E73-43DB-BF7D-98E755334153}"/>
              </a:ext>
            </a:extLst>
          </p:cNvPr>
          <p:cNvSpPr>
            <a:spLocks noGrp="1"/>
          </p:cNvSpPr>
          <p:nvPr/>
        </p:nvSpPr>
        <p:spPr>
          <a:xfrm>
            <a:off x="2714625" y="42481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FFB547"/>
                </a:solidFill>
              </a:defRPr>
            </a:pPr>
            <a:r>
              <a:rPr sz="1275" b="1">
                <a:solidFill>
                  <a:srgbClr val="FFB547"/>
                </a:solidFill>
              </a:rPr>
              <a:t>Service-visible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922E966-2470-4253-B177-1E1C6073921E}"/>
              </a:ext>
            </a:extLst>
          </p:cNvPr>
          <p:cNvSpPr>
            <a:spLocks noGrp="1"/>
          </p:cNvSpPr>
          <p:nvPr/>
        </p:nvSpPr>
        <p:spPr>
          <a:xfrm>
            <a:off x="2714625" y="4591050"/>
            <a:ext cx="1714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Delivery metadata</a:t>
            </a:r>
          </a:p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Group membership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EADA376-9B64-4A10-9D84-9473A0CEC737}"/>
              </a:ext>
            </a:extLst>
          </p:cNvPr>
          <p:cNvSpPr>
            <a:spLocks noGrp="1"/>
          </p:cNvSpPr>
          <p:nvPr/>
        </p:nvSpPr>
        <p:spPr>
          <a:xfrm>
            <a:off x="5429250" y="4305300"/>
            <a:ext cx="60769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Advanced keys stay behind “Learn more”.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7D9A81-D1AF-4001-ABA2-D5269DB9F9C9}"/>
              </a:ext>
            </a:extLst>
          </p:cNvPr>
          <p:cNvSpPr>
            <a:spLocks noGrp="1"/>
          </p:cNvSpPr>
          <p:nvPr/>
        </p:nvSpPr>
        <p:spPr>
          <a:xfrm>
            <a:off x="5429250" y="4819650"/>
            <a:ext cx="6076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BED0E2"/>
                </a:solidFill>
              </a:defRPr>
            </a:pPr>
            <a:r>
              <a:rPr sz="1575" b="0">
                <a:solidFill>
                  <a:srgbClr val="BED0E2"/>
                </a:solidFill>
              </a:rPr>
              <a:t>Less memory burden. More confidence.</a:t>
            </a:r>
          </a:p>
        </p:txBody>
      </p:sp>
    </p:spTree>
    <p:extLst>
      <p:ext uri="{BB962C8B-B14F-4D97-AF65-F5344CB8AC3E}">
        <p14:creationId xmlns:p14="http://schemas.microsoft.com/office/powerpoint/2010/main" val="1084305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D5E017F8-109D-47FD-AD85-976A1E713C2C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0B8C7"/>
                </a:solidFill>
              </a:defRPr>
            </a:pPr>
            <a:r>
              <a:rPr sz="1050" b="1">
                <a:solidFill>
                  <a:srgbClr val="20B8C7"/>
                </a:solidFill>
              </a:rPr>
              <a:t>HCI FOUNDATION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398DA9-C5A4-4F04-BDE0-D8EC040A0599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0243E"/>
                </a:solidFill>
              </a:defRPr>
            </a:pPr>
            <a:r>
              <a:rPr sz="2850" b="1">
                <a:solidFill>
                  <a:srgbClr val="10243E"/>
                </a:solidFill>
              </a:rPr>
              <a:t>Shneiderman’s 8 Golden Rules — visible in the interface.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95D8E85-00DC-4A23-948F-A62A1EBDCB22}"/>
              </a:ext>
            </a:extLst>
          </p:cNvPr>
          <p:cNvSpPr>
            <a:spLocks noGrp="1"/>
          </p:cNvSpPr>
          <p:nvPr/>
        </p:nvSpPr>
        <p:spPr>
          <a:xfrm>
            <a:off x="685800" y="1885950"/>
            <a:ext cx="2457450" cy="1381125"/>
          </a:xfrm>
          <a:prstGeom prst="roundRect">
            <a:avLst>
              <a:gd name="adj" fmla="val 16552"/>
            </a:avLst>
          </a:prstGeom>
          <a:solidFill>
            <a:srgbClr val="FFFFFF"/>
          </a:solidFill>
          <a:ln w="9525">
            <a:solidFill>
              <a:srgbClr val="D6E1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A2C8F5-AE55-4C67-8333-B77FF89DFBBA}"/>
              </a:ext>
            </a:extLst>
          </p:cNvPr>
          <p:cNvSpPr>
            <a:spLocks noGrp="1"/>
          </p:cNvSpPr>
          <p:nvPr/>
        </p:nvSpPr>
        <p:spPr>
          <a:xfrm>
            <a:off x="857250" y="2038350"/>
            <a:ext cx="428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769E0"/>
                </a:solidFill>
              </a:defRPr>
            </a:pPr>
            <a:r>
              <a:rPr sz="1050" b="1">
                <a:solidFill>
                  <a:srgbClr val="1769E0"/>
                </a:solidFill>
              </a:rPr>
              <a:t>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F45291-C8A7-4B56-93BD-FB83BADEF36C}"/>
              </a:ext>
            </a:extLst>
          </p:cNvPr>
          <p:cNvSpPr>
            <a:spLocks noGrp="1"/>
          </p:cNvSpPr>
          <p:nvPr/>
        </p:nvSpPr>
        <p:spPr>
          <a:xfrm>
            <a:off x="857250" y="2381250"/>
            <a:ext cx="2114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0243E"/>
                </a:solidFill>
              </a:defRPr>
            </a:pPr>
            <a:r>
              <a:rPr sz="1275" b="1">
                <a:solidFill>
                  <a:srgbClr val="10243E"/>
                </a:solidFill>
              </a:rPr>
              <a:t>CONSISTENCY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30116D-24B4-497B-B565-D938950933B3}"/>
              </a:ext>
            </a:extLst>
          </p:cNvPr>
          <p:cNvSpPr>
            <a:spLocks noGrp="1"/>
          </p:cNvSpPr>
          <p:nvPr/>
        </p:nvSpPr>
        <p:spPr>
          <a:xfrm>
            <a:off x="857250" y="2705100"/>
            <a:ext cx="2114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1758F"/>
                </a:solidFill>
              </a:defRPr>
            </a:pPr>
            <a:r>
              <a:rPr sz="1200" b="0">
                <a:solidFill>
                  <a:srgbClr val="61758F"/>
                </a:solidFill>
              </a:rPr>
              <a:t>One design system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CD3C9FA-8BCD-4BBD-94E8-CB8D81D1F697}"/>
              </a:ext>
            </a:extLst>
          </p:cNvPr>
          <p:cNvSpPr>
            <a:spLocks noGrp="1"/>
          </p:cNvSpPr>
          <p:nvPr/>
        </p:nvSpPr>
        <p:spPr>
          <a:xfrm>
            <a:off x="3409950" y="1885950"/>
            <a:ext cx="2457450" cy="1381125"/>
          </a:xfrm>
          <a:prstGeom prst="roundRect">
            <a:avLst>
              <a:gd name="adj" fmla="val 16552"/>
            </a:avLst>
          </a:prstGeom>
          <a:solidFill>
            <a:srgbClr val="FFFFFF"/>
          </a:solidFill>
          <a:ln w="9525">
            <a:solidFill>
              <a:srgbClr val="D6E1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E58CD14-3307-4ECA-93B1-C08D7AEDDFBD}"/>
              </a:ext>
            </a:extLst>
          </p:cNvPr>
          <p:cNvSpPr>
            <a:spLocks noGrp="1"/>
          </p:cNvSpPr>
          <p:nvPr/>
        </p:nvSpPr>
        <p:spPr>
          <a:xfrm>
            <a:off x="3581400" y="2038350"/>
            <a:ext cx="428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769E0"/>
                </a:solidFill>
              </a:defRPr>
            </a:pPr>
            <a:r>
              <a:rPr sz="1050" b="1">
                <a:solidFill>
                  <a:srgbClr val="1769E0"/>
                </a:solidFill>
              </a:rPr>
              <a:t>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680E221-9F33-4EF6-8CF8-EACA06515843}"/>
              </a:ext>
            </a:extLst>
          </p:cNvPr>
          <p:cNvSpPr>
            <a:spLocks noGrp="1"/>
          </p:cNvSpPr>
          <p:nvPr/>
        </p:nvSpPr>
        <p:spPr>
          <a:xfrm>
            <a:off x="3581400" y="2381250"/>
            <a:ext cx="2114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0243E"/>
                </a:solidFill>
              </a:defRPr>
            </a:pPr>
            <a:r>
              <a:rPr sz="1275" b="1">
                <a:solidFill>
                  <a:srgbClr val="10243E"/>
                </a:solidFill>
              </a:rPr>
              <a:t>SHORTCUTS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3E19B9-5427-47D6-A8DE-606DFE8890F6}"/>
              </a:ext>
            </a:extLst>
          </p:cNvPr>
          <p:cNvSpPr>
            <a:spLocks noGrp="1"/>
          </p:cNvSpPr>
          <p:nvPr/>
        </p:nvSpPr>
        <p:spPr>
          <a:xfrm>
            <a:off x="3581400" y="2705100"/>
            <a:ext cx="2114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1758F"/>
                </a:solidFill>
              </a:defRPr>
            </a:pPr>
            <a:r>
              <a:rPr sz="1200" b="0">
                <a:solidFill>
                  <a:srgbClr val="61758F"/>
                </a:solidFill>
              </a:rPr>
              <a:t>Search · Ctrl K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E5039E2-2F0C-4107-B2F8-E690AA2A6ED3}"/>
              </a:ext>
            </a:extLst>
          </p:cNvPr>
          <p:cNvSpPr>
            <a:spLocks noGrp="1"/>
          </p:cNvSpPr>
          <p:nvPr/>
        </p:nvSpPr>
        <p:spPr>
          <a:xfrm>
            <a:off x="6134100" y="1885950"/>
            <a:ext cx="2457450" cy="1381125"/>
          </a:xfrm>
          <a:prstGeom prst="roundRect">
            <a:avLst>
              <a:gd name="adj" fmla="val 16552"/>
            </a:avLst>
          </a:prstGeom>
          <a:solidFill>
            <a:srgbClr val="FFFFFF"/>
          </a:solidFill>
          <a:ln w="9525">
            <a:solidFill>
              <a:srgbClr val="D6E1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D41EF91-BA81-4B8C-BD73-26EAA1249FB1}"/>
              </a:ext>
            </a:extLst>
          </p:cNvPr>
          <p:cNvSpPr>
            <a:spLocks noGrp="1"/>
          </p:cNvSpPr>
          <p:nvPr/>
        </p:nvSpPr>
        <p:spPr>
          <a:xfrm>
            <a:off x="6305550" y="2038350"/>
            <a:ext cx="428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769E0"/>
                </a:solidFill>
              </a:defRPr>
            </a:pPr>
            <a:r>
              <a:rPr sz="1050" b="1">
                <a:solidFill>
                  <a:srgbClr val="1769E0"/>
                </a:solidFill>
              </a:rPr>
              <a:t>03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5FCB47D-B600-4175-82C2-824DC6EB335B}"/>
              </a:ext>
            </a:extLst>
          </p:cNvPr>
          <p:cNvSpPr>
            <a:spLocks noGrp="1"/>
          </p:cNvSpPr>
          <p:nvPr/>
        </p:nvSpPr>
        <p:spPr>
          <a:xfrm>
            <a:off x="6305550" y="2381250"/>
            <a:ext cx="2114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0243E"/>
                </a:solidFill>
              </a:defRPr>
            </a:pPr>
            <a:r>
              <a:rPr sz="1275" b="1">
                <a:solidFill>
                  <a:srgbClr val="10243E"/>
                </a:solidFill>
              </a:rPr>
              <a:t>FEEDBACK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427F6AD-0E87-49C1-B8EC-C8DB66E5DF61}"/>
              </a:ext>
            </a:extLst>
          </p:cNvPr>
          <p:cNvSpPr>
            <a:spLocks noGrp="1"/>
          </p:cNvSpPr>
          <p:nvPr/>
        </p:nvSpPr>
        <p:spPr>
          <a:xfrm>
            <a:off x="6305550" y="2705100"/>
            <a:ext cx="2114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1758F"/>
                </a:solidFill>
              </a:defRPr>
            </a:pPr>
            <a:r>
              <a:rPr sz="1200" b="0">
                <a:solidFill>
                  <a:srgbClr val="61758F"/>
                </a:solidFill>
              </a:rPr>
              <a:t>Status · toast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4354499-FD61-4917-B43B-7BBA175917F6}"/>
              </a:ext>
            </a:extLst>
          </p:cNvPr>
          <p:cNvSpPr>
            <a:spLocks noGrp="1"/>
          </p:cNvSpPr>
          <p:nvPr/>
        </p:nvSpPr>
        <p:spPr>
          <a:xfrm>
            <a:off x="8858250" y="1885950"/>
            <a:ext cx="2457450" cy="1381125"/>
          </a:xfrm>
          <a:prstGeom prst="roundRect">
            <a:avLst>
              <a:gd name="adj" fmla="val 16552"/>
            </a:avLst>
          </a:prstGeom>
          <a:solidFill>
            <a:srgbClr val="FFFFFF"/>
          </a:solidFill>
          <a:ln w="9525">
            <a:solidFill>
              <a:srgbClr val="D6E1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491BB3-6589-4088-AE15-F2A9D7C61C24}"/>
              </a:ext>
            </a:extLst>
          </p:cNvPr>
          <p:cNvSpPr>
            <a:spLocks noGrp="1"/>
          </p:cNvSpPr>
          <p:nvPr/>
        </p:nvSpPr>
        <p:spPr>
          <a:xfrm>
            <a:off x="9029700" y="2038350"/>
            <a:ext cx="428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769E0"/>
                </a:solidFill>
              </a:defRPr>
            </a:pPr>
            <a:r>
              <a:rPr sz="1050" b="1">
                <a:solidFill>
                  <a:srgbClr val="1769E0"/>
                </a:solidFill>
              </a:rPr>
              <a:t>04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9F80E5F-A47F-4AAF-B493-56F77B6AAE13}"/>
              </a:ext>
            </a:extLst>
          </p:cNvPr>
          <p:cNvSpPr>
            <a:spLocks noGrp="1"/>
          </p:cNvSpPr>
          <p:nvPr/>
        </p:nvSpPr>
        <p:spPr>
          <a:xfrm>
            <a:off x="9029700" y="2381250"/>
            <a:ext cx="2114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0243E"/>
                </a:solidFill>
              </a:defRPr>
            </a:pPr>
            <a:r>
              <a:rPr sz="1275" b="1">
                <a:solidFill>
                  <a:srgbClr val="10243E"/>
                </a:solidFill>
              </a:rPr>
              <a:t>CLOSURE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5B68395-60A4-4B34-98B1-46FDE1F097B8}"/>
              </a:ext>
            </a:extLst>
          </p:cNvPr>
          <p:cNvSpPr>
            <a:spLocks noGrp="1"/>
          </p:cNvSpPr>
          <p:nvPr/>
        </p:nvSpPr>
        <p:spPr>
          <a:xfrm>
            <a:off x="9029700" y="2705100"/>
            <a:ext cx="2114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1758F"/>
                </a:solidFill>
              </a:defRPr>
            </a:pPr>
            <a:r>
              <a:rPr sz="1200" b="0">
                <a:solidFill>
                  <a:srgbClr val="61758F"/>
                </a:solidFill>
              </a:rPr>
              <a:t>Accepted · sent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12C9CEF-2021-4021-A6DE-575FC8AA5C36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2457450" cy="1381125"/>
          </a:xfrm>
          <a:prstGeom prst="roundRect">
            <a:avLst>
              <a:gd name="adj" fmla="val 16552"/>
            </a:avLst>
          </a:prstGeom>
          <a:solidFill>
            <a:srgbClr val="FFFFFF"/>
          </a:solidFill>
          <a:ln w="9525">
            <a:solidFill>
              <a:srgbClr val="D6E1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D214A30-7085-4ACA-9743-1D8CE1EC8E05}"/>
              </a:ext>
            </a:extLst>
          </p:cNvPr>
          <p:cNvSpPr>
            <a:spLocks noGrp="1"/>
          </p:cNvSpPr>
          <p:nvPr/>
        </p:nvSpPr>
        <p:spPr>
          <a:xfrm>
            <a:off x="857250" y="3790950"/>
            <a:ext cx="428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769E0"/>
                </a:solidFill>
              </a:defRPr>
            </a:pPr>
            <a:r>
              <a:rPr sz="1050" b="1">
                <a:solidFill>
                  <a:srgbClr val="1769E0"/>
                </a:solidFill>
              </a:rPr>
              <a:t>05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AB84717-13CE-43AA-8FB2-F0B31501DE26}"/>
              </a:ext>
            </a:extLst>
          </p:cNvPr>
          <p:cNvSpPr>
            <a:spLocks noGrp="1"/>
          </p:cNvSpPr>
          <p:nvPr/>
        </p:nvSpPr>
        <p:spPr>
          <a:xfrm>
            <a:off x="857250" y="4133850"/>
            <a:ext cx="2114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0243E"/>
                </a:solidFill>
              </a:defRPr>
            </a:pPr>
            <a:r>
              <a:rPr sz="1275" b="1">
                <a:solidFill>
                  <a:srgbClr val="10243E"/>
                </a:solidFill>
              </a:rPr>
              <a:t>PREVENTION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F872151-CEE9-44A6-B1C3-07754C191698}"/>
              </a:ext>
            </a:extLst>
          </p:cNvPr>
          <p:cNvSpPr>
            <a:spLocks noGrp="1"/>
          </p:cNvSpPr>
          <p:nvPr/>
        </p:nvSpPr>
        <p:spPr>
          <a:xfrm>
            <a:off x="857250" y="4457700"/>
            <a:ext cx="2114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1758F"/>
                </a:solidFill>
              </a:defRPr>
            </a:pPr>
            <a:r>
              <a:rPr sz="1200" b="0">
                <a:solidFill>
                  <a:srgbClr val="61758F"/>
                </a:solidFill>
              </a:rPr>
              <a:t>Confirm risk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4DA23C9-B1D0-4E61-9F14-0C8C78C20017}"/>
              </a:ext>
            </a:extLst>
          </p:cNvPr>
          <p:cNvSpPr>
            <a:spLocks noGrp="1"/>
          </p:cNvSpPr>
          <p:nvPr/>
        </p:nvSpPr>
        <p:spPr>
          <a:xfrm>
            <a:off x="3409950" y="3638550"/>
            <a:ext cx="2457450" cy="1381125"/>
          </a:xfrm>
          <a:prstGeom prst="roundRect">
            <a:avLst>
              <a:gd name="adj" fmla="val 16552"/>
            </a:avLst>
          </a:prstGeom>
          <a:solidFill>
            <a:srgbClr val="FFFFFF"/>
          </a:solidFill>
          <a:ln w="9525">
            <a:solidFill>
              <a:srgbClr val="D6E1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C247824-FC98-4F79-A578-43071F51E5A1}"/>
              </a:ext>
            </a:extLst>
          </p:cNvPr>
          <p:cNvSpPr>
            <a:spLocks noGrp="1"/>
          </p:cNvSpPr>
          <p:nvPr/>
        </p:nvSpPr>
        <p:spPr>
          <a:xfrm>
            <a:off x="3581400" y="3790950"/>
            <a:ext cx="428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769E0"/>
                </a:solidFill>
              </a:defRPr>
            </a:pPr>
            <a:r>
              <a:rPr sz="1050" b="1">
                <a:solidFill>
                  <a:srgbClr val="1769E0"/>
                </a:solidFill>
              </a:rPr>
              <a:t>06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33CD09E-0037-4B7F-8A81-BB0D4EA1BC67}"/>
              </a:ext>
            </a:extLst>
          </p:cNvPr>
          <p:cNvSpPr>
            <a:spLocks noGrp="1"/>
          </p:cNvSpPr>
          <p:nvPr/>
        </p:nvSpPr>
        <p:spPr>
          <a:xfrm>
            <a:off x="3581400" y="4133850"/>
            <a:ext cx="2114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0243E"/>
                </a:solidFill>
              </a:defRPr>
            </a:pPr>
            <a:r>
              <a:rPr sz="1275" b="1">
                <a:solidFill>
                  <a:srgbClr val="10243E"/>
                </a:solidFill>
              </a:rPr>
              <a:t>REVERSAL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8F5BBE9-9EB5-4EE9-8C53-FC81B77F52DE}"/>
              </a:ext>
            </a:extLst>
          </p:cNvPr>
          <p:cNvSpPr>
            <a:spLocks noGrp="1"/>
          </p:cNvSpPr>
          <p:nvPr/>
        </p:nvSpPr>
        <p:spPr>
          <a:xfrm>
            <a:off x="3581400" y="4457700"/>
            <a:ext cx="2114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1758F"/>
                </a:solidFill>
              </a:defRPr>
            </a:pPr>
            <a:r>
              <a:rPr sz="1200" b="0">
                <a:solidFill>
                  <a:srgbClr val="61758F"/>
                </a:solidFill>
              </a:rPr>
              <a:t>Cancel · clear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2DCDD964-2921-4CD6-8D88-2CA3D7CEB1A6}"/>
              </a:ext>
            </a:extLst>
          </p:cNvPr>
          <p:cNvSpPr>
            <a:spLocks noGrp="1"/>
          </p:cNvSpPr>
          <p:nvPr/>
        </p:nvSpPr>
        <p:spPr>
          <a:xfrm>
            <a:off x="6134100" y="3638550"/>
            <a:ext cx="2457450" cy="1381125"/>
          </a:xfrm>
          <a:prstGeom prst="roundRect">
            <a:avLst>
              <a:gd name="adj" fmla="val 16552"/>
            </a:avLst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922CAA1-1CC0-46DA-B0DF-796B1825F613}"/>
              </a:ext>
            </a:extLst>
          </p:cNvPr>
          <p:cNvSpPr>
            <a:spLocks noGrp="1"/>
          </p:cNvSpPr>
          <p:nvPr/>
        </p:nvSpPr>
        <p:spPr>
          <a:xfrm>
            <a:off x="6305550" y="3790950"/>
            <a:ext cx="428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7768266-42F9-4E25-B170-7F538070A3CE}"/>
              </a:ext>
            </a:extLst>
          </p:cNvPr>
          <p:cNvSpPr>
            <a:spLocks noGrp="1"/>
          </p:cNvSpPr>
          <p:nvPr/>
        </p:nvSpPr>
        <p:spPr>
          <a:xfrm>
            <a:off x="6305550" y="4133850"/>
            <a:ext cx="2114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CONTROL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808E6B5-02D8-4B30-8667-5A758E3F4E2C}"/>
              </a:ext>
            </a:extLst>
          </p:cNvPr>
          <p:cNvSpPr>
            <a:spLocks noGrp="1"/>
          </p:cNvSpPr>
          <p:nvPr/>
        </p:nvSpPr>
        <p:spPr>
          <a:xfrm>
            <a:off x="6305550" y="4457700"/>
            <a:ext cx="2114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D9E8FF"/>
                </a:solidFill>
              </a:defRPr>
            </a:pPr>
            <a:r>
              <a:rPr sz="1200" b="0">
                <a:solidFill>
                  <a:srgbClr val="D9E8FF"/>
                </a:solidFill>
              </a:rPr>
              <a:t>User decides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552331D-9EF2-47E4-820B-12F313936ACA}"/>
              </a:ext>
            </a:extLst>
          </p:cNvPr>
          <p:cNvSpPr>
            <a:spLocks noGrp="1"/>
          </p:cNvSpPr>
          <p:nvPr/>
        </p:nvSpPr>
        <p:spPr>
          <a:xfrm>
            <a:off x="8858250" y="3638550"/>
            <a:ext cx="2457450" cy="1381125"/>
          </a:xfrm>
          <a:prstGeom prst="roundRect">
            <a:avLst>
              <a:gd name="adj" fmla="val 16552"/>
            </a:avLst>
          </a:prstGeom>
          <a:solidFill>
            <a:srgbClr val="FFFFFF"/>
          </a:solidFill>
          <a:ln w="9525">
            <a:solidFill>
              <a:srgbClr val="D6E1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922B074-1871-4BBC-87C5-C94E6331DF97}"/>
              </a:ext>
            </a:extLst>
          </p:cNvPr>
          <p:cNvSpPr>
            <a:spLocks noGrp="1"/>
          </p:cNvSpPr>
          <p:nvPr/>
        </p:nvSpPr>
        <p:spPr>
          <a:xfrm>
            <a:off x="9029700" y="3790950"/>
            <a:ext cx="428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769E0"/>
                </a:solidFill>
              </a:defRPr>
            </a:pPr>
            <a:r>
              <a:rPr sz="1050" b="1">
                <a:solidFill>
                  <a:srgbClr val="1769E0"/>
                </a:solidFill>
              </a:rPr>
              <a:t>08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50EA0DB-EF72-4FE1-A22A-7EAB7D6DB8AD}"/>
              </a:ext>
            </a:extLst>
          </p:cNvPr>
          <p:cNvSpPr>
            <a:spLocks noGrp="1"/>
          </p:cNvSpPr>
          <p:nvPr/>
        </p:nvSpPr>
        <p:spPr>
          <a:xfrm>
            <a:off x="9029700" y="4133850"/>
            <a:ext cx="2114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0243E"/>
                </a:solidFill>
              </a:defRPr>
            </a:pPr>
            <a:r>
              <a:rPr sz="1275" b="1">
                <a:solidFill>
                  <a:srgbClr val="10243E"/>
                </a:solidFill>
              </a:rPr>
              <a:t>MEMORY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5E4FB0F-922D-4862-9161-6A0DAA75793E}"/>
              </a:ext>
            </a:extLst>
          </p:cNvPr>
          <p:cNvSpPr>
            <a:spLocks noGrp="1"/>
          </p:cNvSpPr>
          <p:nvPr/>
        </p:nvSpPr>
        <p:spPr>
          <a:xfrm>
            <a:off x="9029700" y="4457700"/>
            <a:ext cx="2114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1758F"/>
                </a:solidFill>
              </a:defRPr>
            </a:pPr>
            <a:r>
              <a:rPr sz="1200" b="0">
                <a:solidFill>
                  <a:srgbClr val="61758F"/>
                </a:solidFill>
              </a:rPr>
              <a:t>Explain in context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054DBB0-7BE4-466F-A27F-61EFFB2347A0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10820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The rules work together: clarity → confidence → control.</a:t>
            </a:r>
          </a:p>
        </p:txBody>
      </p:sp>
    </p:spTree>
    <p:extLst>
      <p:ext uri="{BB962C8B-B14F-4D97-AF65-F5344CB8AC3E}">
        <p14:creationId xmlns:p14="http://schemas.microsoft.com/office/powerpoint/2010/main" val="1990735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D12D51F-EA4A-479D-BBEE-F777AABA1B2C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571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0B8C7"/>
                </a:solidFill>
              </a:defRPr>
            </a:pPr>
            <a:r>
              <a:rPr sz="1050" b="1">
                <a:solidFill>
                  <a:srgbClr val="20B8C7"/>
                </a:solidFill>
              </a:rPr>
              <a:t>ACCESSIBLE INTERACTION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CBF3D0-5B72-438B-8E7F-D75DC33694A5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53340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Calm motion. Clear feedback.</a:t>
            </a:r>
          </a:p>
          <a:p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No layout surprises.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rcRect l="7983" r="7983"/>
          <a:stretch>
            <a:fillRect/>
          </a:stretch>
        </p:blipFill>
        <p:spPr>
          <a:xfrm>
            <a:off x="6286500" y="495300"/>
            <a:ext cx="5219700" cy="2952750"/>
          </a:xfrm>
          <a:prstGeom prst="roundRect">
            <a:avLst>
              <a:gd name="adj" fmla="val 7742"/>
            </a:avLst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35D08E7-83FE-4C77-91ED-F47B8551C7D4}"/>
              </a:ext>
            </a:extLst>
          </p:cNvPr>
          <p:cNvSpPr>
            <a:spLocks noGrp="1"/>
          </p:cNvSpPr>
          <p:nvPr/>
        </p:nvSpPr>
        <p:spPr>
          <a:xfrm>
            <a:off x="685800" y="4095750"/>
            <a:ext cx="2428875" cy="1381125"/>
          </a:xfrm>
          <a:prstGeom prst="roundRect">
            <a:avLst>
              <a:gd name="adj" fmla="val 16552"/>
            </a:avLst>
          </a:prstGeom>
          <a:solidFill>
            <a:srgbClr val="0D2948"/>
          </a:solidFill>
          <a:ln w="9525">
            <a:solidFill>
              <a:srgbClr val="31506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93F864-F1F2-474A-B899-F34C9A0196A4}"/>
              </a:ext>
            </a:extLst>
          </p:cNvPr>
          <p:cNvSpPr>
            <a:spLocks noGrp="1"/>
          </p:cNvSpPr>
          <p:nvPr/>
        </p:nvSpPr>
        <p:spPr>
          <a:xfrm>
            <a:off x="857250" y="4267200"/>
            <a:ext cx="666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250" b="1">
                <a:solidFill>
                  <a:srgbClr val="20B8C7"/>
                </a:solidFill>
              </a:defRPr>
            </a:pPr>
            <a:r>
              <a:rPr sz="2250" b="1">
                <a:solidFill>
                  <a:srgbClr val="20B8C7"/>
                </a:solidFill>
              </a:rPr>
              <a:t>Aa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697662-D9D5-464A-BDF7-36E006B8C834}"/>
              </a:ext>
            </a:extLst>
          </p:cNvPr>
          <p:cNvSpPr>
            <a:spLocks noGrp="1"/>
          </p:cNvSpPr>
          <p:nvPr/>
        </p:nvSpPr>
        <p:spPr>
          <a:xfrm>
            <a:off x="914400" y="4810125"/>
            <a:ext cx="19716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Readable type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F2B2E2B-BDAF-4DB9-962E-5CDDB1D90381}"/>
              </a:ext>
            </a:extLst>
          </p:cNvPr>
          <p:cNvSpPr>
            <a:spLocks noGrp="1"/>
          </p:cNvSpPr>
          <p:nvPr/>
        </p:nvSpPr>
        <p:spPr>
          <a:xfrm>
            <a:off x="3400425" y="4095750"/>
            <a:ext cx="2428875" cy="1381125"/>
          </a:xfrm>
          <a:prstGeom prst="roundRect">
            <a:avLst>
              <a:gd name="adj" fmla="val 16552"/>
            </a:avLst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688127-EBCA-488C-B695-0C5183D98299}"/>
              </a:ext>
            </a:extLst>
          </p:cNvPr>
          <p:cNvSpPr>
            <a:spLocks noGrp="1"/>
          </p:cNvSpPr>
          <p:nvPr/>
        </p:nvSpPr>
        <p:spPr>
          <a:xfrm>
            <a:off x="3571875" y="4267200"/>
            <a:ext cx="666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◐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61C8B8-AC31-443B-AAB7-8881ECD28757}"/>
              </a:ext>
            </a:extLst>
          </p:cNvPr>
          <p:cNvSpPr>
            <a:spLocks noGrp="1"/>
          </p:cNvSpPr>
          <p:nvPr/>
        </p:nvSpPr>
        <p:spPr>
          <a:xfrm>
            <a:off x="3629025" y="4810125"/>
            <a:ext cx="19716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High contrast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B3B9597-ABAB-45CA-9CAC-B63CDC592370}"/>
              </a:ext>
            </a:extLst>
          </p:cNvPr>
          <p:cNvSpPr>
            <a:spLocks noGrp="1"/>
          </p:cNvSpPr>
          <p:nvPr/>
        </p:nvSpPr>
        <p:spPr>
          <a:xfrm>
            <a:off x="6115050" y="4095750"/>
            <a:ext cx="2428875" cy="1381125"/>
          </a:xfrm>
          <a:prstGeom prst="roundRect">
            <a:avLst>
              <a:gd name="adj" fmla="val 16552"/>
            </a:avLst>
          </a:prstGeom>
          <a:solidFill>
            <a:srgbClr val="0D2948"/>
          </a:solidFill>
          <a:ln w="9525">
            <a:solidFill>
              <a:srgbClr val="31506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3BCCDC-DBF8-4543-9C4C-73BD3CFDB245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666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250" b="1">
                <a:solidFill>
                  <a:srgbClr val="20B8C7"/>
                </a:solidFill>
              </a:defRPr>
            </a:pPr>
            <a:r>
              <a:rPr sz="2250" b="1">
                <a:solidFill>
                  <a:srgbClr val="20B8C7"/>
                </a:solidFill>
              </a:rPr>
              <a:t>↝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B77D31-FFD3-4C00-B98B-3D3159CDDC9B}"/>
              </a:ext>
            </a:extLst>
          </p:cNvPr>
          <p:cNvSpPr>
            <a:spLocks noGrp="1"/>
          </p:cNvSpPr>
          <p:nvPr/>
        </p:nvSpPr>
        <p:spPr>
          <a:xfrm>
            <a:off x="6343650" y="4810125"/>
            <a:ext cx="19716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Reduced motion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786C085-F107-4931-97F4-915474E09185}"/>
              </a:ext>
            </a:extLst>
          </p:cNvPr>
          <p:cNvSpPr>
            <a:spLocks noGrp="1"/>
          </p:cNvSpPr>
          <p:nvPr/>
        </p:nvSpPr>
        <p:spPr>
          <a:xfrm>
            <a:off x="8829675" y="4095750"/>
            <a:ext cx="2428875" cy="1381125"/>
          </a:xfrm>
          <a:prstGeom prst="roundRect">
            <a:avLst>
              <a:gd name="adj" fmla="val 16552"/>
            </a:avLst>
          </a:prstGeom>
          <a:solidFill>
            <a:srgbClr val="0D2948"/>
          </a:solidFill>
          <a:ln w="9525">
            <a:solidFill>
              <a:srgbClr val="31506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4D1EAB-E672-403C-BB6C-F9B2C26823FD}"/>
              </a:ext>
            </a:extLst>
          </p:cNvPr>
          <p:cNvSpPr>
            <a:spLocks noGrp="1"/>
          </p:cNvSpPr>
          <p:nvPr/>
        </p:nvSpPr>
        <p:spPr>
          <a:xfrm>
            <a:off x="9001125" y="4267200"/>
            <a:ext cx="666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250" b="1">
                <a:solidFill>
                  <a:srgbClr val="20B8C7"/>
                </a:solidFill>
              </a:defRPr>
            </a:pPr>
            <a:r>
              <a:rPr sz="2250" b="1">
                <a:solidFill>
                  <a:srgbClr val="20B8C7"/>
                </a:solidFill>
              </a:rPr>
              <a:t>···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94A21D7-0DEC-4643-985F-22617A15D13A}"/>
              </a:ext>
            </a:extLst>
          </p:cNvPr>
          <p:cNvSpPr>
            <a:spLocks noGrp="1"/>
          </p:cNvSpPr>
          <p:nvPr/>
        </p:nvSpPr>
        <p:spPr>
          <a:xfrm>
            <a:off x="9058275" y="4810125"/>
            <a:ext cx="19716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Skeleton states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62C22C-5B92-4C1B-A30A-9AC60F473650}"/>
              </a:ext>
            </a:extLst>
          </p:cNvPr>
          <p:cNvSpPr>
            <a:spLocks noGrp="1"/>
          </p:cNvSpPr>
          <p:nvPr/>
        </p:nvSpPr>
        <p:spPr>
          <a:xfrm>
            <a:off x="685800" y="5943600"/>
            <a:ext cx="10820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0">
                <a:solidFill>
                  <a:srgbClr val="C7D8E8"/>
                </a:solidFill>
              </a:defRPr>
            </a:pPr>
            <a:r>
              <a:rPr sz="1575" b="0">
                <a:solidFill>
                  <a:srgbClr val="C7D8E8"/>
                </a:solidFill>
              </a:rPr>
              <a:t>Transitions support orientation — never block the task.</a:t>
            </a:r>
          </a:p>
        </p:txBody>
      </p:sp>
    </p:spTree>
    <p:extLst>
      <p:ext uri="{BB962C8B-B14F-4D97-AF65-F5344CB8AC3E}">
        <p14:creationId xmlns:p14="http://schemas.microsoft.com/office/powerpoint/2010/main" val="1195781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7D9D5C2B-75E9-434C-AEA0-716753C1098D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0B8C7"/>
                </a:solidFill>
              </a:defRPr>
            </a:pPr>
            <a:r>
              <a:rPr sz="1050" b="1">
                <a:solidFill>
                  <a:srgbClr val="20B8C7"/>
                </a:solidFill>
              </a:rPr>
              <a:t>DATA ETHICS LIFECYCLE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814759-E45B-4EA6-8DFD-6DFC55F5D3F4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0243E"/>
                </a:solidFill>
              </a:defRPr>
            </a:pPr>
            <a:r>
              <a:rPr sz="2850" b="1">
                <a:solidFill>
                  <a:srgbClr val="10243E"/>
                </a:solidFill>
              </a:rPr>
              <a:t>From minimum collection to meaningful deletion.</a:t>
            </a: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rcRect l="18641" r="18641"/>
          <a:stretch>
            <a:fillRect/>
          </a:stretch>
        </p:blipFill>
        <p:spPr>
          <a:xfrm>
            <a:off x="6572250" y="1638300"/>
            <a:ext cx="4933950" cy="3714750"/>
          </a:xfrm>
          <a:prstGeom prst="roundRect">
            <a:avLst>
              <a:gd name="adj" fmla="val 6154"/>
            </a:avLst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98BE479C-1DF6-40D6-A559-87C53E572135}"/>
              </a:ext>
            </a:extLst>
          </p:cNvPr>
          <p:cNvSpPr>
            <a:spLocks noGrp="1"/>
          </p:cNvSpPr>
          <p:nvPr/>
        </p:nvSpPr>
        <p:spPr>
          <a:xfrm>
            <a:off x="762000" y="1914525"/>
            <a:ext cx="342900" cy="342900"/>
          </a:xfrm>
          <a:prstGeom prst="ellipse">
            <a:avLst/>
          </a:prstGeom>
          <a:solidFill>
            <a:srgbClr val="1769E0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080940-19A0-4655-A126-D7E09888745C}"/>
              </a:ext>
            </a:extLst>
          </p:cNvPr>
          <p:cNvSpPr>
            <a:spLocks noGrp="1"/>
          </p:cNvSpPr>
          <p:nvPr/>
        </p:nvSpPr>
        <p:spPr>
          <a:xfrm>
            <a:off x="781050" y="1933575"/>
            <a:ext cx="30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6CEDE5-9006-45FB-9FDB-B7F1C1445BB1}"/>
              </a:ext>
            </a:extLst>
          </p:cNvPr>
          <p:cNvSpPr>
            <a:spLocks noGrp="1"/>
          </p:cNvSpPr>
          <p:nvPr/>
        </p:nvSpPr>
        <p:spPr>
          <a:xfrm>
            <a:off x="1257300" y="180975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769E0"/>
                </a:solidFill>
              </a:defRPr>
            </a:pPr>
            <a:r>
              <a:rPr sz="1200" b="1">
                <a:solidFill>
                  <a:srgbClr val="1769E0"/>
                </a:solidFill>
              </a:rPr>
              <a:t>MINIMIZE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4DF37C-5BD6-48ED-8EE9-A2D581016C27}"/>
              </a:ext>
            </a:extLst>
          </p:cNvPr>
          <p:cNvSpPr>
            <a:spLocks noGrp="1"/>
          </p:cNvSpPr>
          <p:nvPr/>
        </p:nvSpPr>
        <p:spPr>
          <a:xfrm>
            <a:off x="1257300" y="2105025"/>
            <a:ext cx="4667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0243E"/>
                </a:solidFill>
              </a:defRPr>
            </a:pPr>
            <a:r>
              <a:rPr sz="1425" b="0">
                <a:solidFill>
                  <a:srgbClr val="10243E"/>
                </a:solidFill>
              </a:rPr>
              <a:t>Collect only what is needed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E78E8F-3E11-450C-B43B-C01AF7F53C0E}"/>
              </a:ext>
            </a:extLst>
          </p:cNvPr>
          <p:cNvSpPr>
            <a:spLocks noGrp="1"/>
          </p:cNvSpPr>
          <p:nvPr/>
        </p:nvSpPr>
        <p:spPr>
          <a:xfrm>
            <a:off x="914400" y="2266950"/>
            <a:ext cx="38100" cy="533400"/>
          </a:xfrm>
          <a:prstGeom prst="rect">
            <a:avLst/>
          </a:prstGeom>
          <a:solidFill>
            <a:srgbClr val="D6E1EE"/>
          </a:solidFill>
          <a:ln w="0">
            <a:noFill/>
            <a:prstDash val="solid"/>
          </a:ln>
        </p:spPr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57DA95C-F284-4857-BE26-40DB0858385C}"/>
              </a:ext>
            </a:extLst>
          </p:cNvPr>
          <p:cNvSpPr>
            <a:spLocks noGrp="1"/>
          </p:cNvSpPr>
          <p:nvPr/>
        </p:nvSpPr>
        <p:spPr>
          <a:xfrm>
            <a:off x="762000" y="2895600"/>
            <a:ext cx="342900" cy="342900"/>
          </a:xfrm>
          <a:prstGeom prst="ellipse">
            <a:avLst/>
          </a:prstGeom>
          <a:solidFill>
            <a:srgbClr val="1769E0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E0D073-7637-4DDC-B892-B12989057BEE}"/>
              </a:ext>
            </a:extLst>
          </p:cNvPr>
          <p:cNvSpPr>
            <a:spLocks noGrp="1"/>
          </p:cNvSpPr>
          <p:nvPr/>
        </p:nvSpPr>
        <p:spPr>
          <a:xfrm>
            <a:off x="781050" y="2914650"/>
            <a:ext cx="30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81CC57-D517-4C37-9C97-8DE32C48CC7C}"/>
              </a:ext>
            </a:extLst>
          </p:cNvPr>
          <p:cNvSpPr>
            <a:spLocks noGrp="1"/>
          </p:cNvSpPr>
          <p:nvPr/>
        </p:nvSpPr>
        <p:spPr>
          <a:xfrm>
            <a:off x="1257300" y="2790825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769E0"/>
                </a:solidFill>
              </a:defRPr>
            </a:pPr>
            <a:r>
              <a:rPr sz="1200" b="1">
                <a:solidFill>
                  <a:srgbClr val="1769E0"/>
                </a:solidFill>
              </a:rPr>
              <a:t>EXPLAIN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A28744-F1CA-42B8-8347-F404A7ED4F74}"/>
              </a:ext>
            </a:extLst>
          </p:cNvPr>
          <p:cNvSpPr>
            <a:spLocks noGrp="1"/>
          </p:cNvSpPr>
          <p:nvPr/>
        </p:nvSpPr>
        <p:spPr>
          <a:xfrm>
            <a:off x="1257300" y="3086100"/>
            <a:ext cx="4667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0243E"/>
                </a:solidFill>
              </a:defRPr>
            </a:pPr>
            <a:r>
              <a:rPr sz="1425" b="0">
                <a:solidFill>
                  <a:srgbClr val="10243E"/>
                </a:solidFill>
              </a:rPr>
              <a:t>Show purpose and impact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F955B7-64D3-417E-9B63-AF644A2B4988}"/>
              </a:ext>
            </a:extLst>
          </p:cNvPr>
          <p:cNvSpPr>
            <a:spLocks noGrp="1"/>
          </p:cNvSpPr>
          <p:nvPr/>
        </p:nvSpPr>
        <p:spPr>
          <a:xfrm>
            <a:off x="914400" y="3248025"/>
            <a:ext cx="38100" cy="533400"/>
          </a:xfrm>
          <a:prstGeom prst="rect">
            <a:avLst/>
          </a:prstGeom>
          <a:solidFill>
            <a:srgbClr val="D6E1EE"/>
          </a:solidFill>
          <a:ln w="0">
            <a:noFill/>
            <a:prstDash val="solid"/>
          </a:ln>
        </p:spPr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80416B7-F22F-44F3-B92C-4056A4CB6A04}"/>
              </a:ext>
            </a:extLst>
          </p:cNvPr>
          <p:cNvSpPr>
            <a:spLocks noGrp="1"/>
          </p:cNvSpPr>
          <p:nvPr/>
        </p:nvSpPr>
        <p:spPr>
          <a:xfrm>
            <a:off x="762000" y="3876675"/>
            <a:ext cx="342900" cy="342900"/>
          </a:xfrm>
          <a:prstGeom prst="ellipse">
            <a:avLst/>
          </a:prstGeom>
          <a:solidFill>
            <a:srgbClr val="1769E0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D372AB1-0BB2-46C1-B0F9-3CA112AC633A}"/>
              </a:ext>
            </a:extLst>
          </p:cNvPr>
          <p:cNvSpPr>
            <a:spLocks noGrp="1"/>
          </p:cNvSpPr>
          <p:nvPr/>
        </p:nvSpPr>
        <p:spPr>
          <a:xfrm>
            <a:off x="781050" y="3895725"/>
            <a:ext cx="30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F2037C-1B58-4CDF-A700-105CE1318628}"/>
              </a:ext>
            </a:extLst>
          </p:cNvPr>
          <p:cNvSpPr>
            <a:spLocks noGrp="1"/>
          </p:cNvSpPr>
          <p:nvPr/>
        </p:nvSpPr>
        <p:spPr>
          <a:xfrm>
            <a:off x="1257300" y="37719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769E0"/>
                </a:solidFill>
              </a:defRPr>
            </a:pPr>
            <a:r>
              <a:rPr sz="1200" b="1">
                <a:solidFill>
                  <a:srgbClr val="1769E0"/>
                </a:solidFill>
              </a:rPr>
              <a:t>CONSENT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4ABF258-78E7-4559-91BA-3E070F5A56E4}"/>
              </a:ext>
            </a:extLst>
          </p:cNvPr>
          <p:cNvSpPr>
            <a:spLocks noGrp="1"/>
          </p:cNvSpPr>
          <p:nvPr/>
        </p:nvSpPr>
        <p:spPr>
          <a:xfrm>
            <a:off x="1257300" y="4067175"/>
            <a:ext cx="4667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0243E"/>
                </a:solidFill>
              </a:defRPr>
            </a:pPr>
            <a:r>
              <a:rPr sz="1425" b="0">
                <a:solidFill>
                  <a:srgbClr val="10243E"/>
                </a:solidFill>
              </a:rPr>
              <a:t>Ask before sharing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4207F97-7CFC-48DA-B0B9-25A395EE0857}"/>
              </a:ext>
            </a:extLst>
          </p:cNvPr>
          <p:cNvSpPr>
            <a:spLocks noGrp="1"/>
          </p:cNvSpPr>
          <p:nvPr/>
        </p:nvSpPr>
        <p:spPr>
          <a:xfrm>
            <a:off x="914400" y="4229100"/>
            <a:ext cx="38100" cy="533400"/>
          </a:xfrm>
          <a:prstGeom prst="rect">
            <a:avLst/>
          </a:prstGeom>
          <a:solidFill>
            <a:srgbClr val="D6E1EE"/>
          </a:solidFill>
          <a:ln w="0">
            <a:noFill/>
            <a:prstDash val="solid"/>
          </a:ln>
        </p:spPr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49AA69C-4114-4892-AD69-CF8156181211}"/>
              </a:ext>
            </a:extLst>
          </p:cNvPr>
          <p:cNvSpPr>
            <a:spLocks noGrp="1"/>
          </p:cNvSpPr>
          <p:nvPr/>
        </p:nvSpPr>
        <p:spPr>
          <a:xfrm>
            <a:off x="762000" y="4857750"/>
            <a:ext cx="342900" cy="342900"/>
          </a:xfrm>
          <a:prstGeom prst="ellipse">
            <a:avLst/>
          </a:prstGeom>
          <a:solidFill>
            <a:srgbClr val="D8495B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5BC043E-E38B-44E0-9D3A-5CB35D9AEDC3}"/>
              </a:ext>
            </a:extLst>
          </p:cNvPr>
          <p:cNvSpPr>
            <a:spLocks noGrp="1"/>
          </p:cNvSpPr>
          <p:nvPr/>
        </p:nvSpPr>
        <p:spPr>
          <a:xfrm>
            <a:off x="781050" y="4876800"/>
            <a:ext cx="30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A704743-6D05-4A7C-BF61-E60EBC7027C3}"/>
              </a:ext>
            </a:extLst>
          </p:cNvPr>
          <p:cNvSpPr>
            <a:spLocks noGrp="1"/>
          </p:cNvSpPr>
          <p:nvPr/>
        </p:nvSpPr>
        <p:spPr>
          <a:xfrm>
            <a:off x="1257300" y="4752975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D8495B"/>
                </a:solidFill>
              </a:defRPr>
            </a:pPr>
            <a:r>
              <a:rPr sz="1200" b="1">
                <a:solidFill>
                  <a:srgbClr val="D8495B"/>
                </a:solidFill>
              </a:rPr>
              <a:t>CONTROL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CDA86DD-A9BA-44AA-B332-5074E6F87342}"/>
              </a:ext>
            </a:extLst>
          </p:cNvPr>
          <p:cNvSpPr>
            <a:spLocks noGrp="1"/>
          </p:cNvSpPr>
          <p:nvPr/>
        </p:nvSpPr>
        <p:spPr>
          <a:xfrm>
            <a:off x="1257300" y="5048250"/>
            <a:ext cx="4667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0243E"/>
                </a:solidFill>
              </a:defRPr>
            </a:pPr>
            <a:r>
              <a:rPr sz="1425" b="0">
                <a:solidFill>
                  <a:srgbClr val="10243E"/>
                </a:solidFill>
              </a:rPr>
              <a:t>Export or wipe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3674436-458C-4FE7-8D28-ED2D756D3E73}"/>
              </a:ext>
            </a:extLst>
          </p:cNvPr>
          <p:cNvSpPr>
            <a:spLocks noGrp="1"/>
          </p:cNvSpPr>
          <p:nvPr/>
        </p:nvSpPr>
        <p:spPr>
          <a:xfrm>
            <a:off x="7239000" y="5619750"/>
            <a:ext cx="1809750" cy="381000"/>
          </a:xfrm>
          <a:prstGeom prst="roundRect">
            <a:avLst>
              <a:gd name="adj" fmla="val 50000"/>
            </a:avLst>
          </a:prstGeom>
          <a:solidFill>
            <a:srgbClr val="B9F5E4"/>
          </a:solidFill>
          <a:ln w="9525">
            <a:solidFill>
              <a:srgbClr val="D6E1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D95383F-364A-49EC-8348-A4CB10315C7E}"/>
              </a:ext>
            </a:extLst>
          </p:cNvPr>
          <p:cNvSpPr>
            <a:spLocks noGrp="1"/>
          </p:cNvSpPr>
          <p:nvPr/>
        </p:nvSpPr>
        <p:spPr>
          <a:xfrm>
            <a:off x="7315200" y="5619750"/>
            <a:ext cx="1657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10243E"/>
                </a:solidFill>
              </a:defRPr>
            </a:pPr>
            <a:r>
              <a:rPr sz="1200" b="1">
                <a:solidFill>
                  <a:srgbClr val="10243E"/>
                </a:solidFill>
              </a:rPr>
              <a:t>Portable archive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333FF60-A3E4-46CE-A853-709F077846A4}"/>
              </a:ext>
            </a:extLst>
          </p:cNvPr>
          <p:cNvSpPr>
            <a:spLocks noGrp="1"/>
          </p:cNvSpPr>
          <p:nvPr/>
        </p:nvSpPr>
        <p:spPr>
          <a:xfrm>
            <a:off x="9239250" y="5619750"/>
            <a:ext cx="2000250" cy="381000"/>
          </a:xfrm>
          <a:prstGeom prst="roundRect">
            <a:avLst>
              <a:gd name="adj" fmla="val 50000"/>
            </a:avLst>
          </a:prstGeom>
          <a:solidFill>
            <a:srgbClr val="FFE8EB"/>
          </a:solidFill>
          <a:ln w="9525">
            <a:solidFill>
              <a:srgbClr val="D6E1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454BEFE-B6D8-4FF6-A780-5FF432DB4F7A}"/>
              </a:ext>
            </a:extLst>
          </p:cNvPr>
          <p:cNvSpPr>
            <a:spLocks noGrp="1"/>
          </p:cNvSpPr>
          <p:nvPr/>
        </p:nvSpPr>
        <p:spPr>
          <a:xfrm>
            <a:off x="9315450" y="5619750"/>
            <a:ext cx="1847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D8495B"/>
                </a:solidFill>
              </a:defRPr>
            </a:pPr>
            <a:r>
              <a:rPr sz="1200" b="1">
                <a:solidFill>
                  <a:srgbClr val="D8495B"/>
                </a:solidFill>
              </a:rPr>
              <a:t>Irreversible wipe</a:t>
            </a:r>
          </a:p>
        </p:txBody>
      </p:sp>
    </p:spTree>
    <p:extLst>
      <p:ext uri="{BB962C8B-B14F-4D97-AF65-F5344CB8AC3E}">
        <p14:creationId xmlns:p14="http://schemas.microsoft.com/office/powerpoint/2010/main" val="12478730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F1C4F47E-24B8-4207-BBF8-8456302FED98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0B8C7"/>
                </a:solidFill>
              </a:defRPr>
            </a:pPr>
            <a:r>
              <a:rPr sz="1050" b="1">
                <a:solidFill>
                  <a:srgbClr val="20B8C7"/>
                </a:solidFill>
              </a:rPr>
              <a:t>EVALUATION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5772CA-2B51-4644-867E-AD48E5F908FD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The interface closes the loop.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E9C4E6B-07CA-490A-8513-F93579A9FDFA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4953000" cy="628650"/>
          </a:xfrm>
          <a:prstGeom prst="roundRect">
            <a:avLst>
              <a:gd name="adj" fmla="val 30303"/>
            </a:avLst>
          </a:prstGeom>
          <a:solidFill>
            <a:srgbClr val="102D4A"/>
          </a:solidFill>
          <a:ln w="9525">
            <a:solidFill>
              <a:srgbClr val="294B6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A6D542F-B777-4FDB-938B-E9074132F02F}"/>
              </a:ext>
            </a:extLst>
          </p:cNvPr>
          <p:cNvSpPr>
            <a:spLocks noGrp="1"/>
          </p:cNvSpPr>
          <p:nvPr/>
        </p:nvSpPr>
        <p:spPr>
          <a:xfrm>
            <a:off x="895350" y="1809750"/>
            <a:ext cx="247650" cy="247650"/>
          </a:xfrm>
          <a:prstGeom prst="ellipse">
            <a:avLst/>
          </a:prstGeom>
          <a:solidFill>
            <a:srgbClr val="20B8C7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37AFDB-C353-4604-80E0-F6E641E46C41}"/>
              </a:ext>
            </a:extLst>
          </p:cNvPr>
          <p:cNvSpPr>
            <a:spLocks noGrp="1"/>
          </p:cNvSpPr>
          <p:nvPr/>
        </p:nvSpPr>
        <p:spPr>
          <a:xfrm>
            <a:off x="904875" y="1819275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071B33"/>
                </a:solidFill>
              </a:defRPr>
            </a:pPr>
            <a:r>
              <a:rPr sz="1125" b="1">
                <a:solidFill>
                  <a:srgbClr val="071B33"/>
                </a:solidFill>
              </a:rPr>
              <a:t>✓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FFFFAC-EBA2-4217-BDA6-71E3286EF324}"/>
              </a:ext>
            </a:extLst>
          </p:cNvPr>
          <p:cNvSpPr>
            <a:spLocks noGrp="1"/>
          </p:cNvSpPr>
          <p:nvPr/>
        </p:nvSpPr>
        <p:spPr>
          <a:xfrm>
            <a:off x="1314450" y="1743075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Discover user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262E96-BCC4-4E81-828B-79CAC0B79D6D}"/>
              </a:ext>
            </a:extLst>
          </p:cNvPr>
          <p:cNvSpPr>
            <a:spLocks noGrp="1"/>
          </p:cNvSpPr>
          <p:nvPr/>
        </p:nvSpPr>
        <p:spPr>
          <a:xfrm>
            <a:off x="4733925" y="1752600"/>
            <a:ext cx="666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20B8C7"/>
                </a:solidFill>
              </a:defRPr>
            </a:pPr>
            <a:r>
              <a:rPr sz="1050" b="1">
                <a:solidFill>
                  <a:srgbClr val="20B8C7"/>
                </a:solidFill>
              </a:rPr>
              <a:t>PASS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91624B8-9B2D-47B5-8C9E-3F9B74FA49A1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4953000" cy="628650"/>
          </a:xfrm>
          <a:prstGeom prst="roundRect">
            <a:avLst>
              <a:gd name="adj" fmla="val 30303"/>
            </a:avLst>
          </a:prstGeom>
          <a:solidFill>
            <a:srgbClr val="102D4A"/>
          </a:solidFill>
          <a:ln w="9525">
            <a:solidFill>
              <a:srgbClr val="294B6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9FA3CC6-B058-4529-8CC8-89C411560988}"/>
              </a:ext>
            </a:extLst>
          </p:cNvPr>
          <p:cNvSpPr>
            <a:spLocks noGrp="1"/>
          </p:cNvSpPr>
          <p:nvPr/>
        </p:nvSpPr>
        <p:spPr>
          <a:xfrm>
            <a:off x="895350" y="2667000"/>
            <a:ext cx="247650" cy="247650"/>
          </a:xfrm>
          <a:prstGeom prst="ellipse">
            <a:avLst/>
          </a:prstGeom>
          <a:solidFill>
            <a:srgbClr val="20B8C7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CD01CC-0AC2-4884-986C-29BD1981499D}"/>
              </a:ext>
            </a:extLst>
          </p:cNvPr>
          <p:cNvSpPr>
            <a:spLocks noGrp="1"/>
          </p:cNvSpPr>
          <p:nvPr/>
        </p:nvSpPr>
        <p:spPr>
          <a:xfrm>
            <a:off x="904875" y="2676525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071B33"/>
                </a:solidFill>
              </a:defRPr>
            </a:pPr>
            <a:r>
              <a:rPr sz="1125" b="1">
                <a:solidFill>
                  <a:srgbClr val="071B33"/>
                </a:solidFill>
              </a:rPr>
              <a:t>✓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7E850F-2E86-4CB9-85E0-0BB958602452}"/>
              </a:ext>
            </a:extLst>
          </p:cNvPr>
          <p:cNvSpPr>
            <a:spLocks noGrp="1"/>
          </p:cNvSpPr>
          <p:nvPr/>
        </p:nvSpPr>
        <p:spPr>
          <a:xfrm>
            <a:off x="1314450" y="2600325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Send consent request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FD801-8E3E-4AA8-B043-45509F729586}"/>
              </a:ext>
            </a:extLst>
          </p:cNvPr>
          <p:cNvSpPr>
            <a:spLocks noGrp="1"/>
          </p:cNvSpPr>
          <p:nvPr/>
        </p:nvSpPr>
        <p:spPr>
          <a:xfrm>
            <a:off x="4733925" y="2609850"/>
            <a:ext cx="666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20B8C7"/>
                </a:solidFill>
              </a:defRPr>
            </a:pPr>
            <a:r>
              <a:rPr sz="1050" b="1">
                <a:solidFill>
                  <a:srgbClr val="20B8C7"/>
                </a:solidFill>
              </a:rPr>
              <a:t>PASS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02BBC30-B1E4-45DD-81CD-1CFF0F9F8DDB}"/>
              </a:ext>
            </a:extLst>
          </p:cNvPr>
          <p:cNvSpPr>
            <a:spLocks noGrp="1"/>
          </p:cNvSpPr>
          <p:nvPr/>
        </p:nvSpPr>
        <p:spPr>
          <a:xfrm>
            <a:off x="685800" y="3333750"/>
            <a:ext cx="4953000" cy="628650"/>
          </a:xfrm>
          <a:prstGeom prst="roundRect">
            <a:avLst>
              <a:gd name="adj" fmla="val 30303"/>
            </a:avLst>
          </a:prstGeom>
          <a:solidFill>
            <a:srgbClr val="102D4A"/>
          </a:solidFill>
          <a:ln w="9525">
            <a:solidFill>
              <a:srgbClr val="294B6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688FD47-27A1-4E77-AEF0-269AA492F5C6}"/>
              </a:ext>
            </a:extLst>
          </p:cNvPr>
          <p:cNvSpPr>
            <a:spLocks noGrp="1"/>
          </p:cNvSpPr>
          <p:nvPr/>
        </p:nvSpPr>
        <p:spPr>
          <a:xfrm>
            <a:off x="895350" y="3524250"/>
            <a:ext cx="247650" cy="247650"/>
          </a:xfrm>
          <a:prstGeom prst="ellipse">
            <a:avLst/>
          </a:prstGeom>
          <a:solidFill>
            <a:srgbClr val="20B8C7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D13E5B1-5F95-4167-8FD1-F40D42CD0CF8}"/>
              </a:ext>
            </a:extLst>
          </p:cNvPr>
          <p:cNvSpPr>
            <a:spLocks noGrp="1"/>
          </p:cNvSpPr>
          <p:nvPr/>
        </p:nvSpPr>
        <p:spPr>
          <a:xfrm>
            <a:off x="904875" y="3533775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071B33"/>
                </a:solidFill>
              </a:defRPr>
            </a:pPr>
            <a:r>
              <a:rPr sz="1125" b="1">
                <a:solidFill>
                  <a:srgbClr val="071B33"/>
                </a:solidFill>
              </a:rPr>
              <a:t>✓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9503531-51F4-4377-84FF-3536056BF056}"/>
              </a:ext>
            </a:extLst>
          </p:cNvPr>
          <p:cNvSpPr>
            <a:spLocks noGrp="1"/>
          </p:cNvSpPr>
          <p:nvPr/>
        </p:nvSpPr>
        <p:spPr>
          <a:xfrm>
            <a:off x="1314450" y="3457575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Accept / decline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87C79E3-5A06-41EF-B6F0-0C8D50F19A45}"/>
              </a:ext>
            </a:extLst>
          </p:cNvPr>
          <p:cNvSpPr>
            <a:spLocks noGrp="1"/>
          </p:cNvSpPr>
          <p:nvPr/>
        </p:nvSpPr>
        <p:spPr>
          <a:xfrm>
            <a:off x="4733925" y="3467100"/>
            <a:ext cx="666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20B8C7"/>
                </a:solidFill>
              </a:defRPr>
            </a:pPr>
            <a:r>
              <a:rPr sz="1050" b="1">
                <a:solidFill>
                  <a:srgbClr val="20B8C7"/>
                </a:solidFill>
              </a:rPr>
              <a:t>PASS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193F023-073E-477A-9FD3-45D31684134D}"/>
              </a:ext>
            </a:extLst>
          </p:cNvPr>
          <p:cNvSpPr>
            <a:spLocks noGrp="1"/>
          </p:cNvSpPr>
          <p:nvPr/>
        </p:nvSpPr>
        <p:spPr>
          <a:xfrm>
            <a:off x="685800" y="4191000"/>
            <a:ext cx="4953000" cy="628650"/>
          </a:xfrm>
          <a:prstGeom prst="roundRect">
            <a:avLst>
              <a:gd name="adj" fmla="val 30303"/>
            </a:avLst>
          </a:prstGeom>
          <a:solidFill>
            <a:srgbClr val="102D4A"/>
          </a:solidFill>
          <a:ln w="9525">
            <a:solidFill>
              <a:srgbClr val="294B6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4118DD8-54FF-4C0F-B3E4-F46D39CF268B}"/>
              </a:ext>
            </a:extLst>
          </p:cNvPr>
          <p:cNvSpPr>
            <a:spLocks noGrp="1"/>
          </p:cNvSpPr>
          <p:nvPr/>
        </p:nvSpPr>
        <p:spPr>
          <a:xfrm>
            <a:off x="895350" y="4381500"/>
            <a:ext cx="247650" cy="247650"/>
          </a:xfrm>
          <a:prstGeom prst="ellipse">
            <a:avLst/>
          </a:prstGeom>
          <a:solidFill>
            <a:srgbClr val="20B8C7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35239BE-700E-46BB-BCFB-1CB71148793B}"/>
              </a:ext>
            </a:extLst>
          </p:cNvPr>
          <p:cNvSpPr>
            <a:spLocks noGrp="1"/>
          </p:cNvSpPr>
          <p:nvPr/>
        </p:nvSpPr>
        <p:spPr>
          <a:xfrm>
            <a:off x="904875" y="4391025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071B33"/>
                </a:solidFill>
              </a:defRPr>
            </a:pPr>
            <a:r>
              <a:rPr sz="1125" b="1">
                <a:solidFill>
                  <a:srgbClr val="071B33"/>
                </a:solidFill>
              </a:rPr>
              <a:t>✓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9C5CE0C-2BE8-4D2A-8692-931DB7FE33AF}"/>
              </a:ext>
            </a:extLst>
          </p:cNvPr>
          <p:cNvSpPr>
            <a:spLocks noGrp="1"/>
          </p:cNvSpPr>
          <p:nvPr/>
        </p:nvSpPr>
        <p:spPr>
          <a:xfrm>
            <a:off x="1314450" y="4314825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Open secure chat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08A9C12-EE20-427D-A20F-CCADE89EDC59}"/>
              </a:ext>
            </a:extLst>
          </p:cNvPr>
          <p:cNvSpPr>
            <a:spLocks noGrp="1"/>
          </p:cNvSpPr>
          <p:nvPr/>
        </p:nvSpPr>
        <p:spPr>
          <a:xfrm>
            <a:off x="4733925" y="4324350"/>
            <a:ext cx="666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20B8C7"/>
                </a:solidFill>
              </a:defRPr>
            </a:pPr>
            <a:r>
              <a:rPr sz="1050" b="1">
                <a:solidFill>
                  <a:srgbClr val="20B8C7"/>
                </a:solidFill>
              </a:rPr>
              <a:t>PASS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00E9C5E-F37E-4F7C-92D0-8D3612684F5B}"/>
              </a:ext>
            </a:extLst>
          </p:cNvPr>
          <p:cNvSpPr>
            <a:spLocks noGrp="1"/>
          </p:cNvSpPr>
          <p:nvPr/>
        </p:nvSpPr>
        <p:spPr>
          <a:xfrm>
            <a:off x="6067425" y="1619250"/>
            <a:ext cx="4953000" cy="628650"/>
          </a:xfrm>
          <a:prstGeom prst="roundRect">
            <a:avLst>
              <a:gd name="adj" fmla="val 30303"/>
            </a:avLst>
          </a:prstGeom>
          <a:solidFill>
            <a:srgbClr val="102D4A"/>
          </a:solidFill>
          <a:ln w="9525">
            <a:solidFill>
              <a:srgbClr val="294B6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F707703-515E-4E61-9608-48C11F2E1FAC}"/>
              </a:ext>
            </a:extLst>
          </p:cNvPr>
          <p:cNvSpPr>
            <a:spLocks noGrp="1"/>
          </p:cNvSpPr>
          <p:nvPr/>
        </p:nvSpPr>
        <p:spPr>
          <a:xfrm>
            <a:off x="6276975" y="1809750"/>
            <a:ext cx="247650" cy="247650"/>
          </a:xfrm>
          <a:prstGeom prst="ellipse">
            <a:avLst/>
          </a:prstGeom>
          <a:solidFill>
            <a:srgbClr val="20B8C7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786D3BE-E792-4511-BCF0-14A61C79F6FD}"/>
              </a:ext>
            </a:extLst>
          </p:cNvPr>
          <p:cNvSpPr>
            <a:spLocks noGrp="1"/>
          </p:cNvSpPr>
          <p:nvPr/>
        </p:nvSpPr>
        <p:spPr>
          <a:xfrm>
            <a:off x="6286500" y="1819275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071B33"/>
                </a:solidFill>
              </a:defRPr>
            </a:pPr>
            <a:r>
              <a:rPr sz="1125" b="1">
                <a:solidFill>
                  <a:srgbClr val="071B33"/>
                </a:solidFill>
              </a:rPr>
              <a:t>✓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6CEE0F9-7BD9-4093-A060-0573B6CB7759}"/>
              </a:ext>
            </a:extLst>
          </p:cNvPr>
          <p:cNvSpPr>
            <a:spLocks noGrp="1"/>
          </p:cNvSpPr>
          <p:nvPr/>
        </p:nvSpPr>
        <p:spPr>
          <a:xfrm>
            <a:off x="6696075" y="1743075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Change privacy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603EE01-8CDE-4972-AE54-F3336C142EE0}"/>
              </a:ext>
            </a:extLst>
          </p:cNvPr>
          <p:cNvSpPr>
            <a:spLocks noGrp="1"/>
          </p:cNvSpPr>
          <p:nvPr/>
        </p:nvSpPr>
        <p:spPr>
          <a:xfrm>
            <a:off x="10115550" y="1752600"/>
            <a:ext cx="666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20B8C7"/>
                </a:solidFill>
              </a:defRPr>
            </a:pPr>
            <a:r>
              <a:rPr sz="1050" b="1">
                <a:solidFill>
                  <a:srgbClr val="20B8C7"/>
                </a:solidFill>
              </a:rPr>
              <a:t>PASS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6DDAB9C-4BA0-474D-B202-F10446FE9C0B}"/>
              </a:ext>
            </a:extLst>
          </p:cNvPr>
          <p:cNvSpPr>
            <a:spLocks noGrp="1"/>
          </p:cNvSpPr>
          <p:nvPr/>
        </p:nvSpPr>
        <p:spPr>
          <a:xfrm>
            <a:off x="6067425" y="2476500"/>
            <a:ext cx="4953000" cy="628650"/>
          </a:xfrm>
          <a:prstGeom prst="roundRect">
            <a:avLst>
              <a:gd name="adj" fmla="val 30303"/>
            </a:avLst>
          </a:prstGeom>
          <a:solidFill>
            <a:srgbClr val="102D4A"/>
          </a:solidFill>
          <a:ln w="9525">
            <a:solidFill>
              <a:srgbClr val="294B6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EF89FE6-2ED8-4CFF-8D73-0BB109AA3397}"/>
              </a:ext>
            </a:extLst>
          </p:cNvPr>
          <p:cNvSpPr>
            <a:spLocks noGrp="1"/>
          </p:cNvSpPr>
          <p:nvPr/>
        </p:nvSpPr>
        <p:spPr>
          <a:xfrm>
            <a:off x="6276975" y="2667000"/>
            <a:ext cx="247650" cy="247650"/>
          </a:xfrm>
          <a:prstGeom prst="ellipse">
            <a:avLst/>
          </a:prstGeom>
          <a:solidFill>
            <a:srgbClr val="20B8C7"/>
          </a:solidFill>
          <a:ln w="0">
            <a:noFill/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64997AE-9FD3-4E3C-B8C6-F4C027FE0994}"/>
              </a:ext>
            </a:extLst>
          </p:cNvPr>
          <p:cNvSpPr>
            <a:spLocks noGrp="1"/>
          </p:cNvSpPr>
          <p:nvPr/>
        </p:nvSpPr>
        <p:spPr>
          <a:xfrm>
            <a:off x="6286500" y="2676525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071B33"/>
                </a:solidFill>
              </a:defRPr>
            </a:pPr>
            <a:r>
              <a:rPr sz="1125" b="1">
                <a:solidFill>
                  <a:srgbClr val="071B33"/>
                </a:solidFill>
              </a:rPr>
              <a:t>✓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FB79BB4-EA4D-44AE-B556-E8B27AE4F467}"/>
              </a:ext>
            </a:extLst>
          </p:cNvPr>
          <p:cNvSpPr>
            <a:spLocks noGrp="1"/>
          </p:cNvSpPr>
          <p:nvPr/>
        </p:nvSpPr>
        <p:spPr>
          <a:xfrm>
            <a:off x="6696075" y="2600325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Export data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44E3A7A-FD72-41A1-A21A-C8763652BCFD}"/>
              </a:ext>
            </a:extLst>
          </p:cNvPr>
          <p:cNvSpPr>
            <a:spLocks noGrp="1"/>
          </p:cNvSpPr>
          <p:nvPr/>
        </p:nvSpPr>
        <p:spPr>
          <a:xfrm>
            <a:off x="10115550" y="2609850"/>
            <a:ext cx="666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20B8C7"/>
                </a:solidFill>
              </a:defRPr>
            </a:pPr>
            <a:r>
              <a:rPr sz="1050" b="1">
                <a:solidFill>
                  <a:srgbClr val="20B8C7"/>
                </a:solidFill>
              </a:rPr>
              <a:t>PASS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DAF229A-43E7-408B-93E8-A8949431590B}"/>
              </a:ext>
            </a:extLst>
          </p:cNvPr>
          <p:cNvSpPr>
            <a:spLocks noGrp="1"/>
          </p:cNvSpPr>
          <p:nvPr/>
        </p:nvSpPr>
        <p:spPr>
          <a:xfrm>
            <a:off x="6067425" y="3333750"/>
            <a:ext cx="4953000" cy="628650"/>
          </a:xfrm>
          <a:prstGeom prst="roundRect">
            <a:avLst>
              <a:gd name="adj" fmla="val 30303"/>
            </a:avLst>
          </a:prstGeom>
          <a:solidFill>
            <a:srgbClr val="102D4A"/>
          </a:solidFill>
          <a:ln w="9525">
            <a:solidFill>
              <a:srgbClr val="294B6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6EE86A7-9BD8-4ACE-9737-EF8F2C0837B5}"/>
              </a:ext>
            </a:extLst>
          </p:cNvPr>
          <p:cNvSpPr>
            <a:spLocks noGrp="1"/>
          </p:cNvSpPr>
          <p:nvPr/>
        </p:nvSpPr>
        <p:spPr>
          <a:xfrm>
            <a:off x="6276975" y="3524250"/>
            <a:ext cx="247650" cy="247650"/>
          </a:xfrm>
          <a:prstGeom prst="ellipse">
            <a:avLst/>
          </a:prstGeom>
          <a:solidFill>
            <a:srgbClr val="20B8C7"/>
          </a:solidFill>
          <a:ln w="0">
            <a:noFill/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C94B4AE-BB2E-4474-93AA-BD02A7F0A261}"/>
              </a:ext>
            </a:extLst>
          </p:cNvPr>
          <p:cNvSpPr>
            <a:spLocks noGrp="1"/>
          </p:cNvSpPr>
          <p:nvPr/>
        </p:nvSpPr>
        <p:spPr>
          <a:xfrm>
            <a:off x="6286500" y="3533775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071B33"/>
                </a:solidFill>
              </a:defRPr>
            </a:pPr>
            <a:r>
              <a:rPr sz="1125" b="1">
                <a:solidFill>
                  <a:srgbClr val="071B33"/>
                </a:solidFill>
              </a:rPr>
              <a:t>✓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A487094-6DF0-46C6-A0B0-88C84153F8D1}"/>
              </a:ext>
            </a:extLst>
          </p:cNvPr>
          <p:cNvSpPr>
            <a:spLocks noGrp="1"/>
          </p:cNvSpPr>
          <p:nvPr/>
        </p:nvSpPr>
        <p:spPr>
          <a:xfrm>
            <a:off x="6696075" y="3457575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Wipe account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6A4D8B7-A85A-48E6-A31A-4164ADAA1C6E}"/>
              </a:ext>
            </a:extLst>
          </p:cNvPr>
          <p:cNvSpPr>
            <a:spLocks noGrp="1"/>
          </p:cNvSpPr>
          <p:nvPr/>
        </p:nvSpPr>
        <p:spPr>
          <a:xfrm>
            <a:off x="10115550" y="3467100"/>
            <a:ext cx="666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20B8C7"/>
                </a:solidFill>
              </a:defRPr>
            </a:pPr>
            <a:r>
              <a:rPr sz="1050" b="1">
                <a:solidFill>
                  <a:srgbClr val="20B8C7"/>
                </a:solidFill>
              </a:rPr>
              <a:t>PASS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9F15F0B2-3622-46A8-8773-9534C16B24A9}"/>
              </a:ext>
            </a:extLst>
          </p:cNvPr>
          <p:cNvSpPr>
            <a:spLocks noGrp="1"/>
          </p:cNvSpPr>
          <p:nvPr/>
        </p:nvSpPr>
        <p:spPr>
          <a:xfrm>
            <a:off x="6067425" y="4286250"/>
            <a:ext cx="5438775" cy="1200150"/>
          </a:xfrm>
          <a:prstGeom prst="roundRect">
            <a:avLst>
              <a:gd name="adj" fmla="val 20635"/>
            </a:avLst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43DDDFF-BC55-4A6F-9BB6-3FAA8DE43BD5}"/>
              </a:ext>
            </a:extLst>
          </p:cNvPr>
          <p:cNvSpPr>
            <a:spLocks noGrp="1"/>
          </p:cNvSpPr>
          <p:nvPr/>
        </p:nvSpPr>
        <p:spPr>
          <a:xfrm>
            <a:off x="6315075" y="4457700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LIMITATION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071A6C7-BD5E-4B19-9BA3-916F98156388}"/>
              </a:ext>
            </a:extLst>
          </p:cNvPr>
          <p:cNvSpPr>
            <a:spLocks noGrp="1"/>
          </p:cNvSpPr>
          <p:nvPr/>
        </p:nvSpPr>
        <p:spPr>
          <a:xfrm>
            <a:off x="6315075" y="4714875"/>
            <a:ext cx="4857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Formal user testing with a larger sample</a:t>
            </a:r>
          </a:p>
          <a:p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is the next validation step.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3000296-6EF9-4345-908A-443A9B49FE5D}"/>
              </a:ext>
            </a:extLst>
          </p:cNvPr>
          <p:cNvSpPr>
            <a:spLocks noGrp="1"/>
          </p:cNvSpPr>
          <p:nvPr/>
        </p:nvSpPr>
        <p:spPr>
          <a:xfrm>
            <a:off x="685800" y="57340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AFC4D7"/>
                </a:solidFill>
              </a:defRPr>
            </a:pPr>
            <a:r>
              <a:rPr sz="1275" b="0">
                <a:solidFill>
                  <a:srgbClr val="AFC4D7"/>
                </a:solidFill>
              </a:rPr>
              <a:t>Heuristic + task-flow review</a:t>
            </a:r>
          </a:p>
        </p:txBody>
      </p:sp>
    </p:spTree>
    <p:extLst>
      <p:ext uri="{BB962C8B-B14F-4D97-AF65-F5344CB8AC3E}">
        <p14:creationId xmlns:p14="http://schemas.microsoft.com/office/powerpoint/2010/main" val="13289237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96623B2-177B-4BB6-9E64-396E0A2A73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0B8C7"/>
          </a:solidFill>
          <a:ln w="0">
            <a:noFill/>
            <a:prstDash val="solid"/>
          </a:ln>
        </p:spPr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21581" y="647700"/>
            <a:ext cx="1309688" cy="952500"/>
          </a:xfrm>
          <a:prstGeom prst="roundRect">
            <a:avLst>
              <a:gd name="adj" fmla="val 18000"/>
            </a:avLst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7072F5-3CA9-40E7-80BE-2960D965EB34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98107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600" b="1">
                <a:solidFill>
                  <a:srgbClr val="10243E"/>
                </a:solidFill>
              </a:defRPr>
            </a:pPr>
            <a:r>
              <a:rPr sz="3600" b="1">
                <a:solidFill>
                  <a:srgbClr val="10243E"/>
                </a:solidFill>
              </a:rPr>
              <a:t>A secure experience is usable</a:t>
            </a:r>
          </a:p>
          <a:p>
            <a:pPr algn="l">
              <a:defRPr sz="3600" b="1">
                <a:solidFill>
                  <a:srgbClr val="10243E"/>
                </a:solidFill>
              </a:defRPr>
            </a:pPr>
            <a:r>
              <a:rPr sz="3600" b="1">
                <a:solidFill>
                  <a:srgbClr val="10243E"/>
                </a:solidFill>
              </a:rPr>
              <a:t>only when people understand it.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0783EFA-43B1-4F92-9A42-804F96C55E38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666875" cy="381000"/>
          </a:xfrm>
          <a:prstGeom prst="roundRect">
            <a:avLst>
              <a:gd name="adj" fmla="val 50000"/>
            </a:avLst>
          </a:prstGeom>
          <a:solidFill>
            <a:srgbClr val="1769E0"/>
          </a:solidFill>
          <a:ln w="9525">
            <a:solidFill>
              <a:srgbClr val="D6E1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BFEAFC-4DB3-4425-8B67-B8F02D68D178}"/>
              </a:ext>
            </a:extLst>
          </p:cNvPr>
          <p:cNvSpPr>
            <a:spLocks noGrp="1"/>
          </p:cNvSpPr>
          <p:nvPr/>
        </p:nvSpPr>
        <p:spPr>
          <a:xfrm>
            <a:off x="762000" y="3943350"/>
            <a:ext cx="15144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VISIBLE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772AF18-8001-4681-85E0-9F1DD74AA610}"/>
              </a:ext>
            </a:extLst>
          </p:cNvPr>
          <p:cNvSpPr>
            <a:spLocks noGrp="1"/>
          </p:cNvSpPr>
          <p:nvPr/>
        </p:nvSpPr>
        <p:spPr>
          <a:xfrm>
            <a:off x="2533650" y="3943350"/>
            <a:ext cx="1952625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6E1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F074D3-EAFC-49D2-8854-167E7757F651}"/>
              </a:ext>
            </a:extLst>
          </p:cNvPr>
          <p:cNvSpPr>
            <a:spLocks noGrp="1"/>
          </p:cNvSpPr>
          <p:nvPr/>
        </p:nvSpPr>
        <p:spPr>
          <a:xfrm>
            <a:off x="2609850" y="3943350"/>
            <a:ext cx="18002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10243E"/>
                </a:solidFill>
              </a:defRPr>
            </a:pPr>
            <a:r>
              <a:rPr sz="1200" b="1">
                <a:solidFill>
                  <a:srgbClr val="10243E"/>
                </a:solidFill>
              </a:rPr>
              <a:t>CONSENSUAL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EC3CC03-BA2D-4599-8B70-4DE4F92F09F0}"/>
              </a:ext>
            </a:extLst>
          </p:cNvPr>
          <p:cNvSpPr>
            <a:spLocks noGrp="1"/>
          </p:cNvSpPr>
          <p:nvPr/>
        </p:nvSpPr>
        <p:spPr>
          <a:xfrm>
            <a:off x="4667250" y="3943350"/>
            <a:ext cx="1952625" cy="381000"/>
          </a:xfrm>
          <a:prstGeom prst="roundRect">
            <a:avLst>
              <a:gd name="adj" fmla="val 50000"/>
            </a:avLst>
          </a:prstGeom>
          <a:solidFill>
            <a:srgbClr val="B9F5E4"/>
          </a:solidFill>
          <a:ln w="9525">
            <a:solidFill>
              <a:srgbClr val="D6E1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6CACAE-2EEE-47FF-9B70-39321DDD6E56}"/>
              </a:ext>
            </a:extLst>
          </p:cNvPr>
          <p:cNvSpPr>
            <a:spLocks noGrp="1"/>
          </p:cNvSpPr>
          <p:nvPr/>
        </p:nvSpPr>
        <p:spPr>
          <a:xfrm>
            <a:off x="4743450" y="3943350"/>
            <a:ext cx="18002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10243E"/>
                </a:solidFill>
              </a:defRPr>
            </a:pPr>
            <a:r>
              <a:rPr sz="1200" b="1">
                <a:solidFill>
                  <a:srgbClr val="10243E"/>
                </a:solidFill>
              </a:rPr>
              <a:t>REVERSIBLE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8EC15B-DE55-4431-80E0-C338914C071C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285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250" b="1">
                <a:solidFill>
                  <a:srgbClr val="1769E0"/>
                </a:solidFill>
              </a:defRPr>
            </a:pPr>
            <a:r>
              <a:rPr sz="2250" b="1">
                <a:solidFill>
                  <a:srgbClr val="1769E0"/>
                </a:solidFill>
              </a:rPr>
              <a:t>Questions?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65ABC5B-D897-4F4E-88AA-71CD790EB051}"/>
              </a:ext>
            </a:extLst>
          </p:cNvPr>
          <p:cNvSpPr>
            <a:spLocks noGrp="1"/>
          </p:cNvSpPr>
          <p:nvPr/>
        </p:nvSpPr>
        <p:spPr>
          <a:xfrm>
            <a:off x="8001000" y="58674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350" b="0">
                <a:solidFill>
                  <a:srgbClr val="61758F"/>
                </a:solidFill>
              </a:defRPr>
            </a:pPr>
            <a:r>
              <a:rPr sz="1350" b="0">
                <a:solidFill>
                  <a:srgbClr val="61758F"/>
                </a:solidFill>
              </a:rPr>
              <a:t>Dr. Rizwan Munir</a:t>
            </a:r>
          </a:p>
        </p:txBody>
      </p:sp>
    </p:spTree>
    <p:extLst>
      <p:ext uri="{BB962C8B-B14F-4D97-AF65-F5344CB8AC3E}">
        <p14:creationId xmlns:p14="http://schemas.microsoft.com/office/powerpoint/2010/main" val="198149040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747</Words>
  <Application>Microsoft Office PowerPoint</Application>
  <DocSecurity>0</DocSecurity>
  <PresentationFormat>Widescreen</PresentationFormat>
  <Paragraphs>217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Ashhad Ansari</cp:lastModifiedBy>
  <cp:revision>1</cp:revision>
  <dcterms:created xsi:type="dcterms:W3CDTF">2026-09-03T02:41:05Z</dcterms:created>
  <dcterms:modified xsi:type="dcterms:W3CDTF">2026-09-03T02:44:25Z</dcterms:modified>
</cp:coreProperties>
</file>